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4"/>
  </p:sldMasterIdLst>
  <p:notesMasterIdLst>
    <p:notesMasterId r:id="rId59"/>
  </p:notesMasterIdLst>
  <p:handoutMasterIdLst>
    <p:handoutMasterId r:id="rId60"/>
  </p:handoutMasterIdLst>
  <p:sldIdLst>
    <p:sldId id="520" r:id="rId5"/>
    <p:sldId id="513" r:id="rId6"/>
    <p:sldId id="522" r:id="rId7"/>
    <p:sldId id="525" r:id="rId8"/>
    <p:sldId id="516" r:id="rId9"/>
    <p:sldId id="527" r:id="rId10"/>
    <p:sldId id="528" r:id="rId11"/>
    <p:sldId id="535" r:id="rId12"/>
    <p:sldId id="536" r:id="rId13"/>
    <p:sldId id="538" r:id="rId14"/>
    <p:sldId id="317" r:id="rId15"/>
    <p:sldId id="546" r:id="rId16"/>
    <p:sldId id="557" r:id="rId17"/>
    <p:sldId id="562" r:id="rId18"/>
    <p:sldId id="566" r:id="rId19"/>
    <p:sldId id="412" r:id="rId20"/>
    <p:sldId id="571" r:id="rId21"/>
    <p:sldId id="575" r:id="rId22"/>
    <p:sldId id="578" r:id="rId23"/>
    <p:sldId id="582" r:id="rId24"/>
    <p:sldId id="605" r:id="rId25"/>
    <p:sldId id="585" r:id="rId26"/>
    <p:sldId id="587" r:id="rId27"/>
    <p:sldId id="590" r:id="rId28"/>
    <p:sldId id="593" r:id="rId29"/>
    <p:sldId id="421" r:id="rId30"/>
    <p:sldId id="609" r:id="rId31"/>
    <p:sldId id="704" r:id="rId32"/>
    <p:sldId id="610" r:id="rId33"/>
    <p:sldId id="613" r:id="rId34"/>
    <p:sldId id="616" r:id="rId35"/>
    <p:sldId id="429" r:id="rId36"/>
    <p:sldId id="619" r:id="rId37"/>
    <p:sldId id="623" r:id="rId38"/>
    <p:sldId id="621" r:id="rId39"/>
    <p:sldId id="622" r:id="rId40"/>
    <p:sldId id="437" r:id="rId41"/>
    <p:sldId id="487" r:id="rId42"/>
    <p:sldId id="677" r:id="rId43"/>
    <p:sldId id="703" r:id="rId44"/>
    <p:sldId id="710" r:id="rId45"/>
    <p:sldId id="687" r:id="rId46"/>
    <p:sldId id="685" r:id="rId47"/>
    <p:sldId id="701" r:id="rId48"/>
    <p:sldId id="712" r:id="rId49"/>
    <p:sldId id="714" r:id="rId50"/>
    <p:sldId id="511" r:id="rId51"/>
    <p:sldId id="443" r:id="rId52"/>
    <p:sldId id="458" r:id="rId53"/>
    <p:sldId id="461" r:id="rId54"/>
    <p:sldId id="462" r:id="rId55"/>
    <p:sldId id="449" r:id="rId56"/>
    <p:sldId id="705" r:id="rId57"/>
    <p:sldId id="463" r:id="rId5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5ABC8-3A79-4FD0-87C4-3248810B968E}" v="1046" dt="2026-04-28T15:10:42.947"/>
    <p1510:client id="{E2D20BCB-B137-BC41-BE59-613BD5604566}" v="1692" dt="2026-04-28T02:19:46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78" autoAdjust="0"/>
  </p:normalViewPr>
  <p:slideViewPr>
    <p:cSldViewPr snapToGrid="0">
      <p:cViewPr varScale="1">
        <p:scale>
          <a:sx n="139" d="100"/>
          <a:sy n="139" d="100"/>
        </p:scale>
        <p:origin x="2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8/10/relationships/authors" Target="authors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 rot="0" spcFirstLastPara="1" vertOverflow="ellipsis" wrap="square" anchor="ctr" anchorCtr="1"/>
          <a:lstStyle/>
          <a:p>
            <a:pPr algn="ctr">
              <a:defRPr sz="1600" b="1"/>
            </a:pPr>
            <a:r>
              <a:rPr lang="en-US" sz="1600" b="1"/>
              <a:t>Accuracy on Waterbirds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Worst-Group Accuracy (%)</c:v>
                </c:pt>
              </c:strCache>
            </c:strRef>
          </c:tx>
          <c:spPr>
            <a:solidFill>
              <a:srgbClr val="C0504D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ERM</c:v>
                </c:pt>
                <c:pt idx="1">
                  <c:v>JTT</c:v>
                </c:pt>
                <c:pt idx="2">
                  <c:v>EGMR (ours)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72.59</c:v>
                </c:pt>
                <c:pt idx="1">
                  <c:v>86.7</c:v>
                </c:pt>
                <c:pt idx="2">
                  <c:v>88.32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E87-484A-A308-AEFA11DA30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Accuracy (%)</c:v>
                </c:pt>
              </c:strCache>
            </c:strRef>
          </c:tx>
          <c:spPr>
            <a:solidFill>
              <a:srgbClr val="4F81BD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ERM</c:v>
                </c:pt>
                <c:pt idx="1">
                  <c:v>JTT</c:v>
                </c:pt>
                <c:pt idx="2">
                  <c:v>EGMR (ours)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87.97</c:v>
                </c:pt>
                <c:pt idx="1">
                  <c:v>92.41</c:v>
                </c:pt>
                <c:pt idx="2">
                  <c:v>95.62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FB-4CE5-9FDD-7389568B91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Accuracy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06:24:18.677"/>
    </inkml:context>
    <inkml:brush xml:id="br0">
      <inkml:brushProperty name="width" value="0.05" units="cm"/>
      <inkml:brushProperty name="height" value="0.3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6:25:22.9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264 0 24575,'2'45'0,"15"79"0,-11-88 0,0 1 0,-3 0 0,-1 48 0,-1-223 0,-3 62 0,1 67 0,-2 8 0,-8 17 0,-12 33 0,22-46 0,-8 19 0,-30 69 0,-31 111 0,70-200 0,0-1 0,0 1 0,-1 0 0,1 0 0,-1-1 0,1 1 0,-1 0 0,0-1 0,1 1 0,-1-1 0,0 1 0,0-1 0,0 1 0,-2 0 0,3-2 0,-1-1 0,1 1 0,-1-1 0,1 1 0,-1-1 0,1 0 0,-1 1 0,1-1 0,0 0 0,-1 1 0,1-1 0,0 0 0,0 0 0,0 1 0,-1-1 0,1 0 0,0 0 0,0 1 0,0-1 0,0-1 0,-2-58 0,3-49 0,-2-94 0,-2 177 0,-1 17 0,-2 17 0,-7 28 0,2 1 0,-11 63 0,1 0 0,4-41 0,17-58 0,0-1 0,0 0 0,0 1 0,0-1 0,0 0 0,-1 1 0,1-1 0,0 0 0,0 1 0,0-1 0,0 0 0,0 1 0,-1-1 0,1 0 0,0 1 0,0-1 0,0 0 0,-1 0 0,1 1 0,0-1 0,0 0 0,-1 0 0,1 0 0,0 1 0,-1-1 0,1 0 0,0 0 0,-1 0 0,1 0 0,0 0 0,-1 0 0,0 1 0,-5-11 0,0-20 0,2-12-682,2-44-1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6:25:40.7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36 24575,'2982'0'0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6:25:43.3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24575,'566'0'-1365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6:25:50.3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53 24551,'3154'-53'0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21:10:04.0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53 24551,'2516'-42'0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FFA75-B620-D4D7-C4A5-C52EB7D6AB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CAAA-5E33-E9E5-70C7-8A40FFBBD9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70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B977F-B07E-841F-0B85-5EEE0B1199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51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02CF9-ED8D-B6D3-8F63-F1295561A1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92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703E-D8AA-EAEA-B8B1-F287398A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7419C-9054-B261-F044-FCE417D81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C3BBC-C2E8-C344-187C-A27A82176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61188-E698-FE36-7A84-48EEF7EBF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1C94E-4E0B-454D-C3BA-09E507A3ED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67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24F93-0CE8-ADEF-E015-24F1476013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85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9DB24-5473-0360-3646-68B4CA4456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62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8DDC4-BD54-241C-B468-DC2E4238FD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45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DE3B9-0F7E-20DA-DF00-51302F6E79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75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94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7D422-7334-F356-FEF9-382C14C72E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14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91A84-3001-0246-A363-FF7BFD51D3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18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2F686-697A-B0B0-CE13-356BAD27FB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89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4C37-57E2-1C55-4E4D-8AB9B88C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54B67-435C-C6E2-3AAF-920B8A293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32830-41F1-1A9F-27D9-65D9384EC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6080D-61AD-0D7F-C41A-5E4DD259A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2AC40-1FC6-3AF5-59D0-BDB12DE44F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38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BEA9-8AA4-891F-8F07-971D6AC059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38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1EC8B-1FAE-171E-4594-49B22F30F2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66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85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A3DFB-E103-E193-7851-EF995C247D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28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6E20-5E34-70C4-4870-4899FFCA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AB681-4810-CDE3-BAB1-7B9C27A72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BDB13-F8D1-66BE-EFED-A85EA64F7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655E8-21F9-DC72-3B6B-9E40FD166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FEAEB-62DB-6FC3-D722-D257BD9986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86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05062-E4B4-B0D4-B5EE-B7A3449C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E4546-07E4-6E75-E051-B10004E25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72AC4-AC31-5A25-C78D-717B7091C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3DF6D-D534-C90F-07CA-1A617F398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512-BEE5-B4EF-2C9B-EA5C5DB3FD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96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AE2B0-20B8-7170-9E1E-4772CAF2F2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77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03A59-2BEA-A98C-B67C-3C60D055C7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365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65C1-6D5D-B241-23FE-7BE2BD72C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46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72784-8D78-4C60-0CB7-3A80B5C3A8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179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BD56-0650-9579-3B64-A4475B7F2C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92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44FD-5A12-2C37-95F2-AD46B1213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6FF41-BA89-22FC-DB02-A8C04660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ED066-CF03-9ED5-1818-ADC62E383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ECAAD-A6CF-52C3-AC0B-5920B8440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0AFD2-EBDE-222F-FF4A-37EF5DEDA0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775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C7128-91BC-8735-5A3C-F2EC36C72B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842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C7128-91BC-8735-5A3C-F2EC36C72B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842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C7128-91BC-8735-5A3C-F2EC36C72B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842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A(v) = | how often concept v appears in class 1 − how often it appears in class 0 |</a:t>
            </a:r>
          </a:p>
          <a:p>
            <a:r>
              <a:rPr lang="en-US" b="0" dirty="0"/>
              <a:t>High score = suspect shortcut. Low score = probably a real feature of the object. We rank concepts by this score and flag the top ones for the next stage.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25144-65F7-FE6A-848B-855B225628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14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26641-2F17-6417-91E6-66BF69585A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Deep Feature Reweighting – Last layer retraining for robustness to spuriousness correlations</a:t>
            </a:r>
          </a:p>
          <a:p>
            <a:r>
              <a:rPr lang="en-US" sz="1200" dirty="0"/>
              <a:t>DISC – identify concepts and generate more instances, need to predefine concepts</a:t>
            </a:r>
          </a:p>
          <a:p>
            <a:r>
              <a:rPr lang="en-US" dirty="0"/>
              <a:t>Compare and contrast: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intuition: samples in the same class but different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(e.g., a landbird-on-water vs a landbird-on-land) look different in feature space because the model leans on the spurious feature (background). CNC pulls them together and pushes apart same-group / different-class pairs, so the representation stops encoding the shortcut.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785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B119-8FE4-3E26-2536-862A2937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2BEBC-26D7-0DBF-8AF4-4E0DDFACF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B4705-F517-735A-A2E4-4283DC454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21DFF-D4DE-FB24-BDB1-C9F044CBB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C9733-4D33-4CAB-73DB-0D08ABF61E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137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996A-2145-0679-9791-0623F558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FCFC9-26B4-438B-A214-317FA8056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2B80C-4A14-B9BD-2C8D-CC4CBE082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9C3CD-04D5-657F-1870-955260D7B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78F76-777A-D522-9174-7A85E4693A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233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72840-78BD-D405-AECF-2533DA33C6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00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TA 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t Signature 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lt Signature 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lt Signature 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90" r:id="rId9"/>
    <p:sldLayoutId id="2147483691" r:id="rId10"/>
    <p:sldLayoutId id="2147483692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44.png"/><Relationship Id="rId10" Type="http://schemas.openxmlformats.org/officeDocument/2006/relationships/image" Target="../media/image41.png"/><Relationship Id="rId4" Type="http://schemas.openxmlformats.org/officeDocument/2006/relationships/image" Target="../media/image380.png"/><Relationship Id="rId9" Type="http://schemas.openxmlformats.org/officeDocument/2006/relationships/customXml" Target="../ink/ink4.xml"/><Relationship Id="rId1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04" y="63966"/>
            <a:ext cx="8229600" cy="857253"/>
          </a:xfrm>
        </p:spPr>
        <p:txBody>
          <a:bodyPr>
            <a:noAutofit/>
          </a:bodyPr>
          <a:lstStyle/>
          <a:p>
            <a:r>
              <a:rPr lang="en-US"/>
              <a:t>Research Proposal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152" y="2738237"/>
            <a:ext cx="8229600" cy="1323815"/>
          </a:xfrm>
        </p:spPr>
        <p:txBody>
          <a:bodyPr>
            <a:normAutofit fontScale="55000" lnSpcReduction="20000"/>
          </a:bodyPr>
          <a:lstStyle/>
          <a:p>
            <a:r>
              <a:rPr lang="en-US" sz="2400" dirty="0"/>
              <a:t>Supervisor: Dr. Yu Lei</a:t>
            </a:r>
          </a:p>
          <a:p>
            <a:endParaRPr lang="en-US" sz="2400" dirty="0"/>
          </a:p>
          <a:p>
            <a:r>
              <a:rPr lang="en-US" dirty="0"/>
              <a:t>Committee: </a:t>
            </a:r>
          </a:p>
          <a:p>
            <a:r>
              <a:rPr lang="en-US" sz="2400" dirty="0"/>
              <a:t>Dr. Allison Sullivan</a:t>
            </a:r>
          </a:p>
          <a:p>
            <a:r>
              <a:rPr lang="en-US" dirty="0"/>
              <a:t>Dr. Christoph Csallner</a:t>
            </a:r>
          </a:p>
          <a:p>
            <a:r>
              <a:rPr lang="en-US" dirty="0"/>
              <a:t>Dr. Junzhou Huang</a:t>
            </a:r>
          </a:p>
          <a:p>
            <a:endParaRPr lang="en-US" sz="2400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C5391A4-FCD8-8F32-3E32-A8C4AEB3C522}"/>
              </a:ext>
            </a:extLst>
          </p:cNvPr>
          <p:cNvSpPr txBox="1">
            <a:spLocks/>
          </p:cNvSpPr>
          <p:nvPr/>
        </p:nvSpPr>
        <p:spPr>
          <a:xfrm>
            <a:off x="457200" y="2225732"/>
            <a:ext cx="8229600" cy="933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Krishna Khadka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DEF37D7-3754-AF5C-C237-371717D1683F}"/>
              </a:ext>
            </a:extLst>
          </p:cNvPr>
          <p:cNvSpPr txBox="1">
            <a:spLocks/>
          </p:cNvSpPr>
          <p:nvPr/>
        </p:nvSpPr>
        <p:spPr>
          <a:xfrm>
            <a:off x="2772866" y="4373408"/>
            <a:ext cx="4640240" cy="46998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5081" algn="l"/>
            <a:r>
              <a:rPr lang="en-US" spc="-11" dirty="0">
                <a:solidFill>
                  <a:srgbClr val="FFFFFF"/>
                </a:solidFill>
                <a:latin typeface="Arial"/>
                <a:cs typeface="Arial"/>
              </a:rPr>
              <a:t> The Department of Computer Science and Engineering</a:t>
            </a:r>
          </a:p>
          <a:p>
            <a:pPr marL="12065" marR="5081" algn="l"/>
            <a:r>
              <a:rPr lang="en-US" spc="-11" dirty="0">
                <a:solidFill>
                  <a:srgbClr val="FFFFFF"/>
                </a:solidFill>
                <a:latin typeface="Arial"/>
                <a:cs typeface="Arial"/>
              </a:rPr>
              <a:t>         The University of Texas at Arlington</a:t>
            </a:r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7134EAC9-C5D5-5E34-A1E5-F86AD6A92CD8}"/>
              </a:ext>
            </a:extLst>
          </p:cNvPr>
          <p:cNvSpPr txBox="1">
            <a:spLocks/>
          </p:cNvSpPr>
          <p:nvPr/>
        </p:nvSpPr>
        <p:spPr>
          <a:xfrm>
            <a:off x="120570" y="1127291"/>
            <a:ext cx="8902860" cy="857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/>
              <a:t>Toward Reliable Machine Learning: Understanding, Explaining, and Repairing Model Predictions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75144-E127-DCE2-9D35-A54D48E8832F}"/>
              </a:ext>
            </a:extLst>
          </p:cNvPr>
          <p:cNvSpPr txBox="1"/>
          <p:nvPr/>
        </p:nvSpPr>
        <p:spPr>
          <a:xfrm>
            <a:off x="4232231" y="4016209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4/30/2026</a:t>
            </a:r>
          </a:p>
        </p:txBody>
      </p:sp>
    </p:spTree>
    <p:extLst>
      <p:ext uri="{BB962C8B-B14F-4D97-AF65-F5344CB8AC3E}">
        <p14:creationId xmlns:p14="http://schemas.microsoft.com/office/powerpoint/2010/main" val="409108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9E8B2B-D684-8840-AAB5-5EFB37EB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109F37-4B31-EA4B-937E-279DA28C4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13381"/>
            <a:ext cx="8411154" cy="331673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The Research Theme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Why reliable ML matters, and four contributions toward it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Feature Interactions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How few features actually drive a prediction?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ABLE: Tabular Local Explanations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Bracketing the decision boundary with adversarial pairs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DD-CAM: Vision Local Explanations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Minimal sufficient explanations via delta debugging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EGMR: Repairing Models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Explanation-guided model repair via targeted augmentation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Summary and Timeline</a:t>
            </a:r>
          </a:p>
        </p:txBody>
      </p:sp>
    </p:spTree>
    <p:extLst>
      <p:ext uri="{BB962C8B-B14F-4D97-AF65-F5344CB8AC3E}">
        <p14:creationId xmlns:p14="http://schemas.microsoft.com/office/powerpoint/2010/main" val="388872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67DD41-DF93-FE11-C8F2-DC735613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/>
          <a:lstStyle/>
          <a:p>
            <a:r>
              <a:rPr lang="en-US"/>
              <a:t>Research Theme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742D260-BA07-4CD5-1A02-94F0D4E6661A}"/>
              </a:ext>
            </a:extLst>
          </p:cNvPr>
          <p:cNvSpPr txBox="1">
            <a:spLocks/>
          </p:cNvSpPr>
          <p:nvPr/>
        </p:nvSpPr>
        <p:spPr>
          <a:xfrm>
            <a:off x="457200" y="1178405"/>
            <a:ext cx="8229600" cy="2642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Deep neural networks are deployed widely, yet three questions remain open: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/>
              <a:t>Which features actually drove the prediction?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/>
              <a:t>Can we produce an explanation we can trust: stable and faithful to the model?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/>
              <a:t>When the model is systematically wrong, can we fix it?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sz="1400" b="1"/>
              <a:t>Methodological thread: </a:t>
            </a:r>
            <a:r>
              <a:rPr lang="en-US" sz="1400"/>
              <a:t>treat the trained model as a system under test to drive interpretability and repair.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DE5E59-6884-D4B4-AECA-B272B5A235A8}"/>
              </a:ext>
            </a:extLst>
          </p:cNvPr>
          <p:cNvSpPr txBox="1"/>
          <p:nvPr/>
        </p:nvSpPr>
        <p:spPr>
          <a:xfrm>
            <a:off x="1639545" y="3581341"/>
            <a:ext cx="63364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This proposal addresses these three questions across four chapters.</a:t>
            </a:r>
          </a:p>
        </p:txBody>
      </p:sp>
    </p:spTree>
    <p:extLst>
      <p:ext uri="{BB962C8B-B14F-4D97-AF65-F5344CB8AC3E}">
        <p14:creationId xmlns:p14="http://schemas.microsoft.com/office/powerpoint/2010/main" val="47829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88CB-FB84-DA81-FF0E-41B655AE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 Research Questions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F726A0-D659-69FD-65C0-D41F781CF99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44081239"/>
              </p:ext>
            </p:extLst>
          </p:nvPr>
        </p:nvGraphicFramePr>
        <p:xfrm>
          <a:off x="457200" y="1014549"/>
          <a:ext cx="8229600" cy="3208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46610092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554660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44082906"/>
                    </a:ext>
                  </a:extLst>
                </a:gridCol>
              </a:tblGrid>
              <a:tr h="4048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+mn-lt"/>
                        </a:rPr>
                        <a:t>Understand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+mn-lt"/>
                        </a:rPr>
                        <a:t>Explain</a:t>
                      </a: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+mn-lt"/>
                        </a:rPr>
                        <a:t>Repair</a:t>
                      </a:r>
                    </a:p>
                  </a:txBody>
                  <a:tcP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528673"/>
                  </a:ext>
                </a:extLst>
              </a:tr>
              <a:tr h="1430779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+mn-lt"/>
                        </a:rPr>
                        <a:t>RQ1: </a:t>
                      </a:r>
                      <a:r>
                        <a:rPr lang="en-US" sz="1400">
                          <a:latin typeface="+mn-lt"/>
                        </a:rPr>
                        <a:t>Quantify feature sufficiency for predictions.</a:t>
                      </a:r>
                      <a:endParaRPr lang="en-US" sz="1200" i="1"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i="1">
                          <a:latin typeface="+mn-lt"/>
                        </a:rPr>
                        <a:t> IWCT 2024 (Published) </a:t>
                      </a:r>
                      <a:r>
                        <a:rPr lang="en-US" sz="1200" i="1" baseline="30000">
                          <a:latin typeface="+mn-lt"/>
                        </a:rP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+mn-lt"/>
                        </a:rPr>
                        <a:t>RQ2: </a:t>
                      </a:r>
                      <a:r>
                        <a:rPr lang="en-US" sz="1400">
                          <a:latin typeface="+mn-lt"/>
                        </a:rPr>
                        <a:t>Produce stable, faithful local explanations for tabular models.</a:t>
                      </a:r>
                      <a:endParaRPr lang="en-US" sz="1200" i="1"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i="1">
                          <a:latin typeface="+mn-lt"/>
                        </a:rPr>
                        <a:t> KDD 2026 (Accepted) </a:t>
                      </a:r>
                      <a:r>
                        <a:rPr lang="en-US" sz="1200" i="1" baseline="30000">
                          <a:latin typeface="+mn-lt"/>
                        </a:rPr>
                        <a:t>[2]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+mn-lt"/>
                        </a:rPr>
                        <a:t>RQ4: </a:t>
                      </a:r>
                      <a:r>
                        <a:rPr lang="en-US" sz="1400">
                          <a:latin typeface="+mn-lt"/>
                        </a:rPr>
                        <a:t>Locate, validate, and repair systematic model failures using interpretability.</a:t>
                      </a:r>
                      <a:r>
                        <a:rPr lang="en-US" sz="1200" i="1">
                          <a:latin typeface="+mn-lt"/>
                        </a:rPr>
                        <a:t> 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i="1">
                          <a:latin typeface="+mn-lt"/>
                        </a:rPr>
                        <a:t> Targeting AAAI 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11349"/>
                  </a:ext>
                </a:extLst>
              </a:tr>
              <a:tr h="13654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+mn-lt"/>
                        </a:rPr>
                        <a:t>RQ3: </a:t>
                      </a:r>
                      <a:r>
                        <a:rPr lang="en-US" sz="1400">
                          <a:latin typeface="+mn-lt"/>
                        </a:rPr>
                        <a:t>Extract minimally sufficient internal units for concise vision explanations.</a:t>
                      </a:r>
                      <a:r>
                        <a:rPr lang="en-US" sz="1200" i="1">
                          <a:latin typeface="+mn-lt"/>
                        </a:rPr>
                        <a:t>  Targeting NeurIPS 2026 </a:t>
                      </a:r>
                      <a:r>
                        <a:rPr lang="en-US" sz="1200" i="1" baseline="30000">
                          <a:latin typeface="+mn-lt"/>
                        </a:rPr>
                        <a:t>[3]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4960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3BDF33E-C798-CE6B-7637-2F04D23C6319}"/>
              </a:ext>
            </a:extLst>
          </p:cNvPr>
          <p:cNvSpPr txBox="1"/>
          <p:nvPr/>
        </p:nvSpPr>
        <p:spPr>
          <a:xfrm>
            <a:off x="1726067" y="4270081"/>
            <a:ext cx="63492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Shared methodology across all four: </a:t>
            </a:r>
            <a:r>
              <a:rPr lang="en-US" sz="1400"/>
              <a:t>minimality + sufficiency.</a:t>
            </a:r>
          </a:p>
        </p:txBody>
      </p:sp>
    </p:spTree>
    <p:extLst>
      <p:ext uri="{BB962C8B-B14F-4D97-AF65-F5344CB8AC3E}">
        <p14:creationId xmlns:p14="http://schemas.microsoft.com/office/powerpoint/2010/main" val="845524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6427-C3A3-FFD8-2169-000C0E31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1FC25B7A-F822-5321-0B04-BA58FB24E7C2}"/>
              </a:ext>
            </a:extLst>
          </p:cNvPr>
          <p:cNvSpPr txBox="1">
            <a:spLocks/>
          </p:cNvSpPr>
          <p:nvPr/>
        </p:nvSpPr>
        <p:spPr>
          <a:xfrm>
            <a:off x="120570" y="1703205"/>
            <a:ext cx="8902860" cy="857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/>
              <a:t>Assessing the Degree of Feature Interactions that Determine a Model Prediction</a:t>
            </a:r>
            <a:r>
              <a:rPr lang="en-US" sz="2400" baseline="30000"/>
              <a:t>[1]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73CCABD8-62CE-9631-5687-896C651B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227" y="540461"/>
            <a:ext cx="8229600" cy="857253"/>
          </a:xfrm>
        </p:spPr>
        <p:txBody>
          <a:bodyPr>
            <a:noAutofit/>
          </a:bodyPr>
          <a:lstStyle/>
          <a:p>
            <a:r>
              <a:rPr lang="en-US" sz="4000"/>
              <a:t>Feature Interactions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8FF185-BBDD-9091-38F6-324354277943}"/>
              </a:ext>
            </a:extLst>
          </p:cNvPr>
          <p:cNvSpPr txBox="1"/>
          <p:nvPr/>
        </p:nvSpPr>
        <p:spPr>
          <a:xfrm>
            <a:off x="937592" y="3358496"/>
            <a:ext cx="7462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Krishna Khadka, Sunny Shree, Yu Lei, Raghu </a:t>
            </a:r>
            <a:r>
              <a:rPr lang="en-US" err="1">
                <a:solidFill>
                  <a:schemeClr val="bg1"/>
                </a:solidFill>
              </a:rPr>
              <a:t>Kacker</a:t>
            </a:r>
            <a:r>
              <a:rPr lang="en-US">
                <a:solidFill>
                  <a:schemeClr val="bg1"/>
                </a:solidFill>
              </a:rPr>
              <a:t>, D. Richard Kuhn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BD149-1A66-33A1-DBF1-B33758A7A09E}"/>
              </a:ext>
            </a:extLst>
          </p:cNvPr>
          <p:cNvSpPr txBox="1"/>
          <p:nvPr/>
        </p:nvSpPr>
        <p:spPr>
          <a:xfrm>
            <a:off x="3871820" y="4198946"/>
            <a:ext cx="140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IWCT 2024</a:t>
            </a:r>
          </a:p>
        </p:txBody>
      </p:sp>
    </p:spTree>
    <p:extLst>
      <p:ext uri="{BB962C8B-B14F-4D97-AF65-F5344CB8AC3E}">
        <p14:creationId xmlns:p14="http://schemas.microsoft.com/office/powerpoint/2010/main" val="12283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B94A-8F2E-5609-E3B1-EE695303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AED15-7E78-221E-A62E-81D9F5114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6500"/>
            <a:ext cx="8229600" cy="1397000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Given a model </a:t>
            </a:r>
            <a:r>
              <a:rPr lang="en-US" i="1"/>
              <a:t>M</a:t>
            </a:r>
            <a:r>
              <a:rPr lang="en-US"/>
              <a:t> and test instance </a:t>
            </a:r>
            <a:r>
              <a:rPr lang="en-US" i="1"/>
              <a:t>T</a:t>
            </a:r>
            <a:r>
              <a:rPr lang="en-US"/>
              <a:t> with features </a:t>
            </a:r>
            <a:r>
              <a:rPr lang="en-US" i="1"/>
              <a:t>F</a:t>
            </a:r>
            <a:r>
              <a:rPr lang="en-US" i="1" baseline="-25000"/>
              <a:t>1</a:t>
            </a:r>
            <a:r>
              <a:rPr lang="en-US"/>
              <a:t>, </a:t>
            </a:r>
            <a:r>
              <a:rPr lang="en-US" i="1"/>
              <a:t>F</a:t>
            </a:r>
            <a:r>
              <a:rPr lang="en-US" i="1" baseline="-25000"/>
              <a:t>2</a:t>
            </a:r>
            <a:r>
              <a:rPr lang="en-US"/>
              <a:t>, …, </a:t>
            </a:r>
            <a:r>
              <a:rPr lang="en-US" i="1"/>
              <a:t>F</a:t>
            </a:r>
            <a:r>
              <a:rPr lang="en-US" i="1" baseline="-25000"/>
              <a:t>N</a:t>
            </a:r>
            <a:r>
              <a:rPr lang="en-US"/>
              <a:t>, identify a minimum number of features that preserve </a:t>
            </a:r>
            <a:r>
              <a:rPr lang="en-US" i="1"/>
              <a:t>M</a:t>
            </a:r>
            <a:r>
              <a:rPr lang="en-US"/>
              <a:t>'s prediction on </a:t>
            </a:r>
            <a:r>
              <a:rPr lang="en-US" i="1"/>
              <a:t>T</a:t>
            </a:r>
            <a:r>
              <a:rPr lang="en-US"/>
              <a:t>.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This is a model-explanation problem cast as a minimization: find the smallest sufficient subset.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69AFD7-B98A-8DCB-F325-9528C3ED00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8500" y="2730500"/>
            <a:ext cx="5207000" cy="127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C7DEF6-7868-4CFE-A2A1-F61BA705EB0E}"/>
              </a:ext>
            </a:extLst>
          </p:cNvPr>
          <p:cNvSpPr txBox="1"/>
          <p:nvPr/>
        </p:nvSpPr>
        <p:spPr>
          <a:xfrm>
            <a:off x="1346200" y="4089400"/>
            <a:ext cx="66675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400" i="1">
                <a:solidFill>
                  <a:srgbClr val="555555"/>
                </a:solidFill>
              </a:rPr>
              <a:t>Figure: Given n features, can a small subset (e.g., 3) preserve the prediction? If yes, those features are what actually drive this instance's output.</a:t>
            </a:r>
          </a:p>
        </p:txBody>
      </p:sp>
    </p:spTree>
    <p:extLst>
      <p:ext uri="{BB962C8B-B14F-4D97-AF65-F5344CB8AC3E}">
        <p14:creationId xmlns:p14="http://schemas.microsoft.com/office/powerpoint/2010/main" val="373280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3802-42C3-49CF-DFB6-75AF5D85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hueOff val="0"/>
                    <a:satOff val="0"/>
                    <a:lumOff val="0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  <a:reflection stA="0" endPos="65000" dist="50800" dir="5400000" sy="-100000" algn="bl" rotWithShape="0"/>
                </a:effectLst>
                <a:cs typeface="Arial"/>
              </a:rPr>
              <a:t>Feature Interaction Hypothesis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EDE7CF7-6E36-3B50-0C0E-F76D3424B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1"/>
            <a:ext cx="4338858" cy="3098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Most model predictions can be determined by a few feature interactions.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A </a:t>
            </a:r>
            <a:r>
              <a:rPr lang="en-US" sz="1400" i="1"/>
              <a:t>t</a:t>
            </a:r>
            <a:r>
              <a:rPr lang="en-US" sz="1400"/>
              <a:t>-way interaction is a combination of </a:t>
            </a:r>
            <a:r>
              <a:rPr lang="en-US" sz="1400" i="1"/>
              <a:t>t</a:t>
            </a:r>
            <a:r>
              <a:rPr lang="en-US" sz="1400"/>
              <a:t> features whose joint values trigger a behavior.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Software testing observation</a:t>
            </a:r>
            <a:r>
              <a:rPr lang="en-US" sz="1400" baseline="30000"/>
              <a:t>[4]</a:t>
            </a:r>
            <a:r>
              <a:rPr lang="en-US" sz="1400"/>
              <a:t>: most bugs are triggered by 4–6-way interactions.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Our hypothesis: </a:t>
            </a:r>
            <a:r>
              <a:rPr lang="en-US" sz="1400"/>
              <a:t>most ML predictions are determined by similarly small feature subsets.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097B6-9B58-DE85-4769-E227BCBD9E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589" y="1310641"/>
            <a:ext cx="3272211" cy="2310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D984AB-4EA1-F5CD-1EF2-8A7307B5D16A}"/>
              </a:ext>
            </a:extLst>
          </p:cNvPr>
          <p:cNvSpPr txBox="1"/>
          <p:nvPr/>
        </p:nvSpPr>
        <p:spPr>
          <a:xfrm>
            <a:off x="5022109" y="3653144"/>
            <a:ext cx="4057170" cy="75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i="1"/>
              <a:t>Figure: Cumulative error detection rates for four- to six-way interactions in four application domains: medical devices, a Web browser, an HTTP server, and a NASA distributed database.  </a:t>
            </a:r>
            <a:r>
              <a:rPr lang="en-US" sz="1000" i="1" baseline="3000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1625256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C677-44BF-8E56-08DF-900A26717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43" y="-10220"/>
            <a:ext cx="8229600" cy="857250"/>
          </a:xfrm>
        </p:spPr>
        <p:txBody>
          <a:bodyPr>
            <a:normAutofit/>
          </a:bodyPr>
          <a:lstStyle/>
          <a:p>
            <a:r>
              <a:rPr lang="en-US"/>
              <a:t>Motivating Examples Adult Income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33C93C-14E7-2DF9-C774-F376D51219EA}"/>
              </a:ext>
            </a:extLst>
          </p:cNvPr>
          <p:cNvSpPr txBox="1"/>
          <p:nvPr/>
        </p:nvSpPr>
        <p:spPr>
          <a:xfrm>
            <a:off x="565657" y="3886200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>
                <a:solidFill>
                  <a:srgbClr val="0D0D0D"/>
                </a:solidFill>
              </a:rPr>
              <a:t>Bars are SHAP values (log-odds contributions)</a:t>
            </a:r>
            <a:r>
              <a:rPr lang="en-US" sz="1300" baseline="30000">
                <a:solidFill>
                  <a:srgbClr val="0D0D0D"/>
                </a:solidFill>
              </a:rPr>
              <a:t>[5]</a:t>
            </a:r>
            <a:r>
              <a:rPr lang="en-US" sz="1300">
                <a:solidFill>
                  <a:srgbClr val="0D0D0D"/>
                </a:solidFill>
              </a:rPr>
              <a:t>. Red pushes the score up, blue down. Decision rule: </a:t>
            </a:r>
            <a:r>
              <a:rPr lang="en-US" sz="1300" i="1">
                <a:solidFill>
                  <a:srgbClr val="0D0D0D"/>
                </a:solidFill>
              </a:rPr>
              <a:t>f(X) &gt; 0 → class 1, else class 0</a:t>
            </a:r>
            <a:r>
              <a:rPr lang="en-US" sz="1300">
                <a:solidFill>
                  <a:srgbClr val="0D0D0D"/>
                </a:solidFill>
              </a:rPr>
              <a:t>. Different instances need different and often very few features.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CE902-2CF0-5A71-2CE1-434AE8C6C618}"/>
              </a:ext>
            </a:extLst>
          </p:cNvPr>
          <p:cNvSpPr txBox="1"/>
          <p:nvPr/>
        </p:nvSpPr>
        <p:spPr>
          <a:xfrm>
            <a:off x="4807457" y="3454400"/>
            <a:ext cx="4064000" cy="279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Label: </a:t>
            </a:r>
            <a:r>
              <a:rPr lang="en-US" sz="1100"/>
              <a:t>1 (≥50K)  </a:t>
            </a:r>
            <a:r>
              <a:rPr lang="en-US" sz="1100" b="1"/>
              <a:t>Min features: </a:t>
            </a:r>
            <a:r>
              <a:rPr lang="en-US" sz="1100"/>
              <a:t>capital-gain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8D173D-22CC-DE5F-2A33-FD4B964703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868015"/>
            <a:ext cx="4064000" cy="228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B93F19-B721-BF2D-2AD6-84DC0788C37D}"/>
              </a:ext>
            </a:extLst>
          </p:cNvPr>
          <p:cNvSpPr txBox="1"/>
          <p:nvPr/>
        </p:nvSpPr>
        <p:spPr>
          <a:xfrm>
            <a:off x="489457" y="3454400"/>
            <a:ext cx="4064000" cy="279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/>
              <a:t>Label: </a:t>
            </a:r>
            <a:r>
              <a:rPr lang="en-US" sz="1100"/>
              <a:t>1 (≥50K)  </a:t>
            </a:r>
            <a:r>
              <a:rPr lang="en-US" sz="1100" b="1"/>
              <a:t>Min features: </a:t>
            </a:r>
            <a:r>
              <a:rPr lang="en-US" sz="1100"/>
              <a:t>education-num, occupation, marital-status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274DBF-5A81-7A53-BDDF-80447066BE7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0457" y="847030"/>
            <a:ext cx="4064000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09EDF2-3045-928F-AF23-3F3659932366}"/>
              </a:ext>
            </a:extLst>
          </p:cNvPr>
          <p:cNvSpPr txBox="1"/>
          <p:nvPr/>
        </p:nvSpPr>
        <p:spPr>
          <a:xfrm>
            <a:off x="489457" y="3175000"/>
            <a:ext cx="4064000" cy="25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0D0D0D"/>
                </a:solidFill>
              </a:rPr>
              <a:t>Example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4DF37-A263-E311-4143-9C2339A26C2F}"/>
              </a:ext>
            </a:extLst>
          </p:cNvPr>
          <p:cNvSpPr txBox="1"/>
          <p:nvPr/>
        </p:nvSpPr>
        <p:spPr>
          <a:xfrm>
            <a:off x="4807457" y="3175000"/>
            <a:ext cx="4064000" cy="25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0D0D0D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4215394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F389F65-A48F-005E-8EF0-25265957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Related Work: Instance-level Feature Importance Methods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C1D48B42-CA7E-F887-4535-672BC44A8D80}"/>
              </a:ext>
            </a:extLst>
          </p:cNvPr>
          <p:cNvSpPr txBox="1">
            <a:spLocks/>
          </p:cNvSpPr>
          <p:nvPr/>
        </p:nvSpPr>
        <p:spPr>
          <a:xfrm>
            <a:off x="517585" y="3968630"/>
            <a:ext cx="822960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/>
              <a:t>SHAP and LIME rank features. </a:t>
            </a:r>
            <a:r>
              <a:rPr lang="en-US" sz="1400"/>
              <a:t>Neither asks: what subset is enough to preserve the prediction?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92AC22-68A3-468C-844E-7547FACF4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835504"/>
              </p:ext>
            </p:extLst>
          </p:nvPr>
        </p:nvGraphicFramePr>
        <p:xfrm>
          <a:off x="457200" y="1353149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79074319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3789890204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247021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394718579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SHAP</a:t>
                      </a:r>
                      <a:r>
                        <a:rPr lang="en-US" sz="1400" b="1" baseline="30000">
                          <a:solidFill>
                            <a:srgbClr val="FFFFFF"/>
                          </a:solidFill>
                        </a:rPr>
                        <a:t>[5]</a:t>
                      </a:r>
                    </a:p>
                  </a:txBody>
                  <a:tcPr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LIME</a:t>
                      </a:r>
                      <a:r>
                        <a:rPr lang="en-US" sz="1400" b="1" baseline="30000">
                          <a:solidFill>
                            <a:srgbClr val="FFFFFF"/>
                          </a:solidFill>
                        </a:rPr>
                        <a:t>[6]</a:t>
                      </a:r>
                    </a:p>
                  </a:txBody>
                  <a:tcPr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Ours (this paper)</a:t>
                      </a:r>
                      <a:r>
                        <a:rPr lang="en-US" sz="1400" b="1" baseline="30000">
                          <a:solidFill>
                            <a:srgbClr val="FFFFFF"/>
                          </a:solidFill>
                        </a:rPr>
                        <a:t>[1]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37357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Output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0000"/>
                          </a:solidFill>
                        </a:rPr>
                        <a:t>Per-feature contributions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0000"/>
                          </a:solidFill>
                        </a:rPr>
                        <a:t>Per-feature weights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0000"/>
                          </a:solidFill>
                        </a:rPr>
                        <a:t>Sufficient subset</a:t>
                      </a:r>
                    </a:p>
                  </a:txBody>
                  <a:tcPr anchor="ctr">
                    <a:solidFill>
                      <a:srgbClr val="EA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86004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Mechanism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0000"/>
                          </a:solidFill>
                        </a:rPr>
                        <a:t>Shapley 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0000"/>
                          </a:solidFill>
                        </a:rPr>
                        <a:t>Linear surrogate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0000"/>
                          </a:solidFill>
                        </a:rPr>
                        <a:t>SHAP + margin-based stopping</a:t>
                      </a:r>
                    </a:p>
                  </a:txBody>
                  <a:tcPr anchor="ctr">
                    <a:solidFill>
                      <a:srgbClr val="EA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77628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Identifies minimum sufficient set?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97D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EA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427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418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C911-7632-8020-4068-F0BD830B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SHAP Additivity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509A5-7964-AE4D-DC41-D1CD3A4F7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3602524" cy="3098800"/>
          </a:xfrm>
        </p:spPr>
        <p:txBody>
          <a:bodyPr/>
          <a:lstStyle/>
          <a:p>
            <a:pPr marL="0" indent="0">
              <a:buNone/>
            </a:pPr>
            <a:r>
              <a:rPr lang="en-US" sz="1600" b="1"/>
              <a:t>SHAP Additivity (building block)</a:t>
            </a:r>
          </a:p>
          <a:p>
            <a:pPr marL="0" indent="0" algn="ctr">
              <a:buNone/>
            </a:pPr>
            <a:r>
              <a:rPr lang="en-US" sz="1500"/>
              <a:t>FP = BV + </a:t>
            </a:r>
            <a:r>
              <a:rPr lang="en-US" sz="1500" err="1"/>
              <a:t>Σ</a:t>
            </a:r>
            <a:r>
              <a:rPr lang="en-US" sz="1500"/>
              <a:t>ᵢ </a:t>
            </a:r>
            <a:r>
              <a:rPr lang="en-US" sz="1500" err="1"/>
              <a:t>ϕ</a:t>
            </a:r>
            <a:r>
              <a:rPr lang="en-US" sz="1500"/>
              <a:t>ᵢ </a:t>
            </a:r>
            <a:r>
              <a:rPr lang="en-US" sz="1500" baseline="30000"/>
              <a:t>[5]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/>
              <a:t>FP = final prediction · BV = base value · ϕᵢ = SHAP value of feature </a:t>
            </a:r>
            <a:r>
              <a:rPr lang="en-US" sz="1300" i="1"/>
              <a:t>i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/>
              <a:t>Key property our algorithm exploits: </a:t>
            </a:r>
            <a:r>
              <a:rPr lang="en-US" sz="1300"/>
              <a:t>we can compute the prediction from any subset of features by adding only those ϕᵢ values plus BV.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A77AB-9BB3-385F-BBD3-10C69BF563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8413" y="1468935"/>
            <a:ext cx="4306082" cy="1310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0A2C26-BD42-D84C-6A75-F3A7208B6981}"/>
              </a:ext>
            </a:extLst>
          </p:cNvPr>
          <p:cNvSpPr txBox="1"/>
          <p:nvPr/>
        </p:nvSpPr>
        <p:spPr>
          <a:xfrm>
            <a:off x="4267200" y="2819400"/>
            <a:ext cx="431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>
                <a:solidFill>
                  <a:srgbClr val="555555"/>
                </a:solidFill>
              </a:rPr>
              <a:t>Figure. SHAP additivity: per-feature attributions sum to the model's output </a:t>
            </a:r>
            <a:r>
              <a:rPr lang="en-US" sz="1200" i="1" baseline="30000">
                <a:solidFill>
                  <a:srgbClr val="555555"/>
                </a:solidFill>
              </a:rPr>
              <a:t>[5]</a:t>
            </a:r>
            <a:endParaRPr lang="en-US" sz="1200" baseline="30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309DD-4E2D-9C8D-E651-A7AD57B4511A}"/>
              </a:ext>
            </a:extLst>
          </p:cNvPr>
          <p:cNvSpPr txBox="1"/>
          <p:nvPr/>
        </p:nvSpPr>
        <p:spPr>
          <a:xfrm>
            <a:off x="4267200" y="3302000"/>
            <a:ext cx="4318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/>
              <a:t>Worked example </a:t>
            </a:r>
            <a:r>
              <a:rPr lang="en-US" sz="1300"/>
              <a:t>(subset = Age, BP):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300"/>
              <a:t>FP = BV + ϕ_Age + ϕ_BP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300"/>
              <a:t>     = 0.1 + 0.1 + 0.1 = </a:t>
            </a:r>
            <a:r>
              <a:rPr lang="en-US" sz="1300" b="1"/>
              <a:t>0.3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76264-90CD-C0D7-1186-AC7E4234CD43}"/>
                  </a:ext>
                </a:extLst>
              </p:cNvPr>
              <p:cNvSpPr txBox="1"/>
              <p:nvPr/>
            </p:nvSpPr>
            <p:spPr>
              <a:xfrm>
                <a:off x="4267200" y="4381500"/>
                <a:ext cx="4635500" cy="2794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/>
                  <a:t>FP = Final Prediction, BV = Base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1100"/>
                  <a:t> = Individual SHAP Values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76264-90CD-C0D7-1186-AC7E4234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4381500"/>
                <a:ext cx="4635500" cy="279400"/>
              </a:xfrm>
              <a:prstGeom prst="rect">
                <a:avLst/>
              </a:prstGeom>
              <a:blipFill>
                <a:blip r:embed="rId4"/>
                <a:stretch>
                  <a:fillRect t="-21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140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130B-0E0D-DA26-8B5D-635F68A6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Idea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7C7CA-644F-94D8-E5E8-7D38CE8C8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8717" y="1248295"/>
            <a:ext cx="7509166" cy="2090650"/>
          </a:xfrm>
        </p:spPr>
        <p:txBody>
          <a:bodyPr/>
          <a:lstStyle/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cs typeface="Arial"/>
              </a:rPr>
              <a:t>Given a model prediction, calculate the importance value </a:t>
            </a:r>
            <a:r>
              <a:rPr lang="en-US">
                <a:solidFill>
                  <a:srgbClr val="0D0D0D"/>
                </a:solidFill>
              </a:rPr>
              <a:t>of each feature for the prediction</a:t>
            </a:r>
            <a:r>
              <a:rPr lang="en-US">
                <a:cs typeface="Arial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cs typeface="Arial"/>
              </a:rPr>
              <a:t>Sort the features in a non-increasing order of their importance values.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Iteratively select the top features until they are sufficient to preserve the prediction.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AC5F7-FA02-BAB0-9342-CB8528BE2BD9}"/>
              </a:ext>
            </a:extLst>
          </p:cNvPr>
          <p:cNvSpPr txBox="1"/>
          <p:nvPr/>
        </p:nvSpPr>
        <p:spPr>
          <a:xfrm>
            <a:off x="738717" y="3553757"/>
            <a:ext cx="7948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/>
              <a:t>The goal is to identify a minimal set of important features that preserve the model’s prediction.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49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75CB4D-60BA-6F85-2B8B-A4C452D7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1: Compute and Sort SHAP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75318A-F5D6-CE44-AD07-BD8B3F03D7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0" y="1168400"/>
            <a:ext cx="3937000" cy="238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C4997A-1779-4BCA-89E0-2CFF2B9DCF15}"/>
              </a:ext>
            </a:extLst>
          </p:cNvPr>
          <p:cNvSpPr txBox="1"/>
          <p:nvPr/>
        </p:nvSpPr>
        <p:spPr>
          <a:xfrm>
            <a:off x="457200" y="1168400"/>
            <a:ext cx="41910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400" b="1"/>
              <a:t>Compute SHAP values</a:t>
            </a:r>
          </a:p>
          <a:p>
            <a:pPr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400"/>
              <a:t>Compute ϕ for an instance in the test set using a SHAP explainer.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/>
              <a:t>Sort by predicted-class contribution</a:t>
            </a:r>
          </a:p>
          <a:p>
            <a:pPr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400" b="1"/>
              <a:t>Class 1: </a:t>
            </a:r>
            <a:r>
              <a:rPr lang="en-US" sz="1400"/>
              <a:t>sort positive ϕ descending; negative ϕ are </a:t>
            </a:r>
            <a:r>
              <a:rPr lang="en-US" sz="1400" i="1"/>
              <a:t>opposing</a:t>
            </a:r>
            <a:r>
              <a:rPr lang="en-US" sz="1400"/>
              <a:t>.</a:t>
            </a:r>
          </a:p>
          <a:p>
            <a:pPr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400" b="1"/>
              <a:t>Class 0: </a:t>
            </a:r>
            <a:r>
              <a:rPr lang="en-US" sz="1400"/>
              <a:t>sort negative ϕ by |ϕ| descending; positive ϕ are </a:t>
            </a:r>
            <a:r>
              <a:rPr lang="en-US" sz="1400" i="1"/>
              <a:t>opposing</a:t>
            </a:r>
            <a:r>
              <a:rPr lang="en-US" sz="14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FAF73-0E22-486F-A22D-17C72E0BEA66}"/>
              </a:ext>
            </a:extLst>
          </p:cNvPr>
          <p:cNvSpPr txBox="1"/>
          <p:nvPr/>
        </p:nvSpPr>
        <p:spPr>
          <a:xfrm>
            <a:off x="4826000" y="3632200"/>
            <a:ext cx="3937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300" b="1"/>
              <a:t>Example </a:t>
            </a:r>
            <a:r>
              <a:rPr lang="en-US" sz="1100" i="1">
                <a:solidFill>
                  <a:srgbClr val="555555"/>
                </a:solidFill>
              </a:rPr>
              <a:t>(Adult Income, predicted = 1)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00"/>
              <a:t>education-num </a:t>
            </a:r>
            <a:r>
              <a:rPr lang="en-US" sz="1300" b="1"/>
              <a:t>+1.13</a:t>
            </a:r>
            <a:r>
              <a:rPr lang="en-US" sz="1300"/>
              <a:t> · occupation </a:t>
            </a:r>
            <a:r>
              <a:rPr lang="en-US" sz="1300" b="1"/>
              <a:t>+0.59</a:t>
            </a:r>
            <a:r>
              <a:rPr lang="en-US" sz="1300"/>
              <a:t> · marital-status </a:t>
            </a:r>
            <a:r>
              <a:rPr lang="en-US" sz="1300" b="1"/>
              <a:t>+0.56</a:t>
            </a:r>
            <a:r>
              <a:rPr lang="en-US" sz="1300"/>
              <a:t> · relationship +0.31 · age +0.22 · workclass +0.13 · race +0.12</a:t>
            </a:r>
          </a:p>
        </p:txBody>
      </p:sp>
    </p:spTree>
    <p:extLst>
      <p:ext uri="{BB962C8B-B14F-4D97-AF65-F5344CB8AC3E}">
        <p14:creationId xmlns:p14="http://schemas.microsoft.com/office/powerpoint/2010/main" val="156771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31BB-BA1A-7B6E-49D8-BC958751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 2: Margin-based Iterative Identification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28AF4-B6D7-B8E9-4B71-802A9E826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168400"/>
            <a:ext cx="4064000" cy="2794000"/>
          </a:xfrm>
        </p:spPr>
        <p:txBody>
          <a:bodyPr/>
          <a:lstStyle/>
          <a:p>
            <a:pPr marL="0" indent="0">
              <a:buNone/>
            </a:pPr>
            <a:r>
              <a:rPr lang="en-US" sz="1400" b="1"/>
              <a:t>Margin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500" b="1"/>
              <a:t>M = BV + Σᵢ₌₁ᵗ ϕ₍ᵢ₎ − T</a:t>
            </a:r>
          </a:p>
          <a:p>
            <a:pPr marL="171450" indent="-171450">
              <a:lnSpc>
                <a:spcPct val="13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/>
              <a:t>BV</a:t>
            </a:r>
            <a:r>
              <a:rPr lang="en-US" sz="1400"/>
              <a:t> base prediction value</a:t>
            </a:r>
          </a:p>
          <a:p>
            <a:pPr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400" b="1"/>
              <a:t>Σϕ₍ᵢ₎ </a:t>
            </a:r>
            <a:r>
              <a:rPr lang="en-US" sz="1400"/>
              <a:t>SHAP sum of the top </a:t>
            </a:r>
            <a:r>
              <a:rPr lang="en-US" sz="1400" i="1"/>
              <a:t>t</a:t>
            </a:r>
            <a:r>
              <a:rPr lang="en-US" sz="1400"/>
              <a:t> features</a:t>
            </a:r>
          </a:p>
          <a:p>
            <a:pPr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400" b="1"/>
              <a:t>T</a:t>
            </a:r>
            <a:r>
              <a:rPr lang="en-US" sz="1400"/>
              <a:t> classification threshold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98C81-1050-4400-9EE1-557E90E0F29E}"/>
              </a:ext>
            </a:extLst>
          </p:cNvPr>
          <p:cNvSpPr txBox="1"/>
          <p:nvPr/>
        </p:nvSpPr>
        <p:spPr>
          <a:xfrm>
            <a:off x="558802" y="2961389"/>
            <a:ext cx="4064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400" b="1"/>
              <a:t>Iterative identification</a:t>
            </a:r>
          </a:p>
          <a:p>
            <a:pPr marL="171450" indent="-171450">
              <a:lnSpc>
                <a:spcPct val="120000"/>
              </a:lnSpc>
              <a:buFont typeface="Arial"/>
              <a:buChar char="•"/>
            </a:pPr>
            <a:r>
              <a:rPr lang="en-US" sz="1300"/>
              <a:t>Start at </a:t>
            </a:r>
            <a:r>
              <a:rPr lang="en-US" sz="1300" i="1"/>
              <a:t>t</a:t>
            </a:r>
            <a:r>
              <a:rPr lang="en-US" sz="1300"/>
              <a:t>=1; compute M from the top </a:t>
            </a:r>
            <a:r>
              <a:rPr lang="en-US" sz="1300" i="1"/>
              <a:t>t</a:t>
            </a:r>
            <a:r>
              <a:rPr lang="en-US" sz="1300"/>
              <a:t> SHAP values.</a:t>
            </a:r>
          </a:p>
          <a:p>
            <a:pPr marL="171450" indent="-171450">
              <a:lnSpc>
                <a:spcPct val="120000"/>
              </a:lnSpc>
              <a:buFont typeface="Arial"/>
              <a:buChar char="•"/>
            </a:pPr>
            <a:r>
              <a:rPr lang="en-US" sz="1300"/>
              <a:t>Stop when |M| &gt; sum of |opposing ϕ|.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3FE1F-0270-43A4-8CE6-82F1E0B26B94}"/>
              </a:ext>
            </a:extLst>
          </p:cNvPr>
          <p:cNvSpPr txBox="1"/>
          <p:nvPr/>
        </p:nvSpPr>
        <p:spPr>
          <a:xfrm>
            <a:off x="1560902" y="4173400"/>
            <a:ext cx="736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400" b="1"/>
              <a:t>Identified subset: </a:t>
            </a:r>
            <a:r>
              <a:rPr lang="en-US" sz="1400"/>
              <a:t>{education-num, occupation, marital-status} — </a:t>
            </a:r>
            <a:r>
              <a:rPr lang="en-US" sz="1400" b="1">
                <a:solidFill>
                  <a:srgbClr val="1F497D"/>
                </a:solidFill>
              </a:rPr>
              <a:t>3 of 14 features.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E66541-42C3-42F7-9693-E1CA8CE0E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416388"/>
              </p:ext>
            </p:extLst>
          </p:nvPr>
        </p:nvGraphicFramePr>
        <p:xfrm>
          <a:off x="4343400" y="1945124"/>
          <a:ext cx="44196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419112559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61257919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69605541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57163029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Added feature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16446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education-num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−1.339 + 1.13 = −0.21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continue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73186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+ occupation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−1.339 + 1.72 = 0.38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continue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24491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+ marital-status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−1.339 + 2.28 = 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2E7D32"/>
                          </a:solidFill>
                        </a:rPr>
                        <a:t>stop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4624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08D1C17-1D11-47DA-989A-DC612C1907F8}"/>
              </a:ext>
            </a:extLst>
          </p:cNvPr>
          <p:cNvSpPr txBox="1"/>
          <p:nvPr/>
        </p:nvSpPr>
        <p:spPr>
          <a:xfrm>
            <a:off x="4343400" y="1678424"/>
            <a:ext cx="44196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marL="0" indent="0">
              <a:buNone/>
            </a:pPr>
            <a:r>
              <a:rPr lang="en-US" sz="1100" b="1"/>
              <a:t>Setup: </a:t>
            </a:r>
            <a:r>
              <a:rPr lang="en-US" sz="1100"/>
              <a:t>BV = −1.339 · T = 0 · |O| = 0.58 (fnlwgt, capital-gain, 5 others)</a:t>
            </a:r>
          </a:p>
        </p:txBody>
      </p:sp>
    </p:spTree>
    <p:extLst>
      <p:ext uri="{BB962C8B-B14F-4D97-AF65-F5344CB8AC3E}">
        <p14:creationId xmlns:p14="http://schemas.microsoft.com/office/powerpoint/2010/main" val="186289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D819-7FB7-7802-A454-3B4C3222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Design</a:t>
            </a:r>
            <a:r>
              <a:rPr lang="en-US" baseline="30000"/>
              <a:t>[1]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92F451-C3C9-B77F-59A7-88DC1E7EACFA}"/>
              </a:ext>
            </a:extLst>
          </p:cNvPr>
          <p:cNvSpPr txBox="1">
            <a:spLocks/>
          </p:cNvSpPr>
          <p:nvPr/>
        </p:nvSpPr>
        <p:spPr>
          <a:xfrm>
            <a:off x="746975" y="1041537"/>
            <a:ext cx="7237845" cy="6447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sz="1400" b="1">
                <a:latin typeface="+mn-lt"/>
                <a:cs typeface="Arial"/>
              </a:rPr>
              <a:t>Research Questions: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/>
              <a:t>How many features are needed to determine the prediction of an instance?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9B26B7-30A8-E54A-BF60-E8D9F5F0E72F}"/>
              </a:ext>
            </a:extLst>
          </p:cNvPr>
          <p:cNvGraphicFramePr>
            <a:graphicFrameLocks noGrp="1"/>
          </p:cNvGraphicFramePr>
          <p:nvPr/>
        </p:nvGraphicFramePr>
        <p:xfrm>
          <a:off x="850005" y="1860204"/>
          <a:ext cx="7237845" cy="12573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75718">
                  <a:extLst>
                    <a:ext uri="{9D8B030D-6E8A-4147-A177-3AD203B41FA5}">
                      <a16:colId xmlns:a16="http://schemas.microsoft.com/office/drawing/2014/main" val="552368344"/>
                    </a:ext>
                  </a:extLst>
                </a:gridCol>
                <a:gridCol w="1036894">
                  <a:extLst>
                    <a:ext uri="{9D8B030D-6E8A-4147-A177-3AD203B41FA5}">
                      <a16:colId xmlns:a16="http://schemas.microsoft.com/office/drawing/2014/main" val="539341617"/>
                    </a:ext>
                  </a:extLst>
                </a:gridCol>
                <a:gridCol w="1206309">
                  <a:extLst>
                    <a:ext uri="{9D8B030D-6E8A-4147-A177-3AD203B41FA5}">
                      <a16:colId xmlns:a16="http://schemas.microsoft.com/office/drawing/2014/main" val="3491471431"/>
                    </a:ext>
                  </a:extLst>
                </a:gridCol>
                <a:gridCol w="1375719">
                  <a:extLst>
                    <a:ext uri="{9D8B030D-6E8A-4147-A177-3AD203B41FA5}">
                      <a16:colId xmlns:a16="http://schemas.microsoft.com/office/drawing/2014/main" val="1347158537"/>
                    </a:ext>
                  </a:extLst>
                </a:gridCol>
                <a:gridCol w="1123036">
                  <a:extLst>
                    <a:ext uri="{9D8B030D-6E8A-4147-A177-3AD203B41FA5}">
                      <a16:colId xmlns:a16="http://schemas.microsoft.com/office/drawing/2014/main" val="2673014697"/>
                    </a:ext>
                  </a:extLst>
                </a:gridCol>
                <a:gridCol w="1120169">
                  <a:extLst>
                    <a:ext uri="{9D8B030D-6E8A-4147-A177-3AD203B41FA5}">
                      <a16:colId xmlns:a16="http://schemas.microsoft.com/office/drawing/2014/main" val="2424868446"/>
                    </a:ext>
                  </a:extLst>
                </a:gridCol>
              </a:tblGrid>
              <a:tr h="2495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# of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Total 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Training 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Test 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Task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983143"/>
                  </a:ext>
                </a:extLst>
              </a:tr>
              <a:tr h="178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Breast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823693"/>
                  </a:ext>
                </a:extLst>
              </a:tr>
              <a:tr h="178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Adult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48842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39074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9768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46261"/>
                  </a:ext>
                </a:extLst>
              </a:tr>
              <a:tr h="2495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Mushroom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8124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6499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1625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946894"/>
                  </a:ext>
                </a:extLst>
              </a:tr>
              <a:tr h="178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1494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63C161-C999-B8C4-8487-25296298EEF9}"/>
              </a:ext>
            </a:extLst>
          </p:cNvPr>
          <p:cNvSpPr txBox="1"/>
          <p:nvPr/>
        </p:nvSpPr>
        <p:spPr>
          <a:xfrm>
            <a:off x="746976" y="3170717"/>
            <a:ext cx="6162782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/>
              <a:t>ML Models: </a:t>
            </a:r>
            <a:r>
              <a:rPr lang="en-US" sz="1200"/>
              <a:t>Logistic Regression, XGBoost, SVM (9 model–dataset configurations)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D6E72F-ADE8-B3DC-FADF-86582F8C94E0}"/>
              </a:ext>
            </a:extLst>
          </p:cNvPr>
          <p:cNvSpPr txBox="1"/>
          <p:nvPr/>
        </p:nvSpPr>
        <p:spPr>
          <a:xfrm>
            <a:off x="746976" y="3467053"/>
            <a:ext cx="8229599" cy="587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/>
              <a:t>Validation: </a:t>
            </a:r>
            <a:r>
              <a:rPr lang="en-US" sz="1200">
                <a:solidFill>
                  <a:srgbClr val="0D0D0D"/>
                </a:solidFill>
                <a:latin typeface="+mn-lt"/>
              </a:rPr>
              <a:t>retrain using only the identified features and check that the predictions still hold (100 random test instances per dataset).</a:t>
            </a:r>
            <a:endParaRPr lang="en-US" sz="1400">
              <a:solidFill>
                <a:srgbClr val="0D0D0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1715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8AD-EC37-6210-D342-E3AED1FF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Results</a:t>
            </a:r>
          </a:p>
        </p:txBody>
      </p:sp>
      <p:pic>
        <p:nvPicPr>
          <p:cNvPr id="8" name="Picture 7" descr="A graph showing the number of cancer&#10;&#10;Description automatically generated">
            <a:extLst>
              <a:ext uri="{FF2B5EF4-FFF2-40B4-BE49-F238E27FC236}">
                <a16:creationId xmlns:a16="http://schemas.microsoft.com/office/drawing/2014/main" id="{0F1685C2-A59B-59A4-A7EE-8BE701F998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952500"/>
            <a:ext cx="3810000" cy="193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AA7C82-20D0-9811-DCC0-CF7E56286D1E}"/>
              </a:ext>
            </a:extLst>
          </p:cNvPr>
          <p:cNvSpPr txBox="1"/>
          <p:nvPr/>
        </p:nvSpPr>
        <p:spPr>
          <a:xfrm>
            <a:off x="254000" y="2984500"/>
            <a:ext cx="4191001" cy="1423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None/>
            </a:pPr>
            <a:r>
              <a:rPr lang="en-US" sz="1400" b="1"/>
              <a:t>Instance level: </a:t>
            </a:r>
            <a:r>
              <a:rPr lang="en-US" sz="1400"/>
              <a:t>90% of instances have </a:t>
            </a:r>
            <a:r>
              <a:rPr lang="en-US" sz="1400" b="1">
                <a:solidFill>
                  <a:srgbClr val="1F497D"/>
                </a:solidFill>
              </a:rPr>
              <a:t>fewer than 5</a:t>
            </a:r>
            <a:r>
              <a:rPr lang="en-US" sz="1400"/>
              <a:t> identified features; cumulative correctness plateaus beyond </a:t>
            </a:r>
            <a:r>
              <a:rPr lang="en-US" sz="1400" i="1"/>
              <a:t>t</a:t>
            </a:r>
            <a:r>
              <a:rPr lang="en-US" sz="1400"/>
              <a:t> = 6. </a:t>
            </a:r>
            <a:r>
              <a:rPr lang="en-US" sz="1400" baseline="30000"/>
              <a:t>[1]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Similar graphs with both Adult income and Mushroom dataset</a:t>
            </a:r>
          </a:p>
        </p:txBody>
      </p:sp>
      <p:pic>
        <p:nvPicPr>
          <p:cNvPr id="15" name="Copied Picture 15">
            <a:extLst>
              <a:ext uri="{FF2B5EF4-FFF2-40B4-BE49-F238E27FC236}">
                <a16:creationId xmlns:a16="http://schemas.microsoft.com/office/drawing/2014/main" id="{BF6F79BD-C12D-0178-D7E8-88FAB3612E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9000" y="952500"/>
            <a:ext cx="4064000" cy="1930400"/>
          </a:xfrm>
        </p:spPr>
      </p:pic>
      <p:sp>
        <p:nvSpPr>
          <p:cNvPr id="3" name="DatasetSummary">
            <a:extLst>
              <a:ext uri="{FF2B5EF4-FFF2-40B4-BE49-F238E27FC236}">
                <a16:creationId xmlns:a16="http://schemas.microsoft.com/office/drawing/2014/main" id="{DDBB7502-858F-4F7D-A225-C4AF9C30BA1E}"/>
              </a:ext>
            </a:extLst>
          </p:cNvPr>
          <p:cNvSpPr txBox="1"/>
          <p:nvPr/>
        </p:nvSpPr>
        <p:spPr>
          <a:xfrm>
            <a:off x="4699000" y="2984500"/>
            <a:ext cx="41275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US" sz="1400" b="1"/>
              <a:t>Dataset level: </a:t>
            </a:r>
            <a:r>
              <a:rPr lang="en-US" sz="1400"/>
              <a:t>across 9 (model, dataset) pairs, median </a:t>
            </a:r>
            <a:r>
              <a:rPr lang="en-US" sz="1400" i="1"/>
              <a:t>t</a:t>
            </a:r>
            <a:r>
              <a:rPr lang="en-US" sz="1400"/>
              <a:t> ≤ 2 in </a:t>
            </a:r>
            <a:r>
              <a:rPr lang="en-US" sz="1400" b="1">
                <a:solidFill>
                  <a:srgbClr val="1F497D"/>
                </a:solidFill>
              </a:rPr>
              <a:t>8 of 9</a:t>
            </a:r>
            <a:r>
              <a:rPr lang="en-US" sz="1400"/>
              <a:t>. </a:t>
            </a:r>
            <a:r>
              <a:rPr lang="en-US" sz="1400" baseline="30000"/>
              <a:t>[1]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b="1"/>
              <a:t>Validation: </a:t>
            </a:r>
            <a:r>
              <a:rPr lang="en-US" sz="1400"/>
              <a:t>retraining on the identified subset matches original accuracy </a:t>
            </a:r>
            <a:r>
              <a:rPr lang="en-US" sz="1400" b="1">
                <a:solidFill>
                  <a:srgbClr val="1F497D"/>
                </a:solidFill>
              </a:rPr>
              <a:t>within 6%</a:t>
            </a:r>
            <a:r>
              <a:rPr lang="en-US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0553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1035-A571-3EA7-8BA4-3C3CF0E8E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82BF8303-410D-D64C-FF12-45C85D469295}"/>
              </a:ext>
            </a:extLst>
          </p:cNvPr>
          <p:cNvSpPr txBox="1">
            <a:spLocks/>
          </p:cNvSpPr>
          <p:nvPr/>
        </p:nvSpPr>
        <p:spPr>
          <a:xfrm>
            <a:off x="120570" y="1851312"/>
            <a:ext cx="8902860" cy="857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/>
              <a:t>ABLE: Using Adversarial Pairs to Construct Local Models for Explaining Model Predictions</a:t>
            </a:r>
            <a:r>
              <a:rPr lang="en-US" sz="2400" baseline="30000"/>
              <a:t>[2]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8F3AEA85-2772-6B89-7CDF-0823EC0C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3066"/>
            <a:ext cx="8229600" cy="8572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/>
              <a:t>ABLE: Tabular Local Explanations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A9C821-D0D8-A3CD-F4E9-92CCC82EB53C}"/>
              </a:ext>
            </a:extLst>
          </p:cNvPr>
          <p:cNvSpPr txBox="1"/>
          <p:nvPr/>
        </p:nvSpPr>
        <p:spPr>
          <a:xfrm>
            <a:off x="701899" y="3208001"/>
            <a:ext cx="7592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Krishna Khadka, Sunny Shree, Pujan Budhathoki, Yu </a:t>
            </a:r>
            <a:r>
              <a:rPr lang="en-US" err="1">
                <a:solidFill>
                  <a:schemeClr val="bg1"/>
                </a:solidFill>
              </a:rPr>
              <a:t>Lei,Raghu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Kacker</a:t>
            </a:r>
            <a:r>
              <a:rPr lang="en-US">
                <a:solidFill>
                  <a:schemeClr val="bg1"/>
                </a:solidFill>
              </a:rPr>
              <a:t>, D Richard Kuhn​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A66015-A60C-2BFB-B9CB-D76CD8B71FE2}"/>
              </a:ext>
            </a:extLst>
          </p:cNvPr>
          <p:cNvSpPr txBox="1"/>
          <p:nvPr/>
        </p:nvSpPr>
        <p:spPr>
          <a:xfrm>
            <a:off x="3122691" y="42553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Accepted at KDD 2026</a:t>
            </a:r>
          </a:p>
        </p:txBody>
      </p:sp>
    </p:spTree>
    <p:extLst>
      <p:ext uri="{BB962C8B-B14F-4D97-AF65-F5344CB8AC3E}">
        <p14:creationId xmlns:p14="http://schemas.microsoft.com/office/powerpoint/2010/main" val="1997089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7295-5DAF-830A-EE28-91FCF965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Explanation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5DC62-1E21-6259-5A51-A6B6890DC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2535" y="1096249"/>
            <a:ext cx="8032792" cy="11865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Local explanation methods build an interpretable surrogate around a single test point. </a:t>
            </a:r>
            <a:r>
              <a:rPr lang="en-US" b="1"/>
              <a:t>LIME</a:t>
            </a:r>
            <a:r>
              <a:rPr lang="en-US" b="1" baseline="30000"/>
              <a:t>[6] </a:t>
            </a:r>
            <a:r>
              <a:rPr lang="en-US"/>
              <a:t>is the most widely used method.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FFCEFE-F730-798C-60F8-264830E8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04" y="2282805"/>
            <a:ext cx="7808996" cy="16421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C9D51F-1DB1-4303-BC02-1B6259CFB833}"/>
              </a:ext>
            </a:extLst>
          </p:cNvPr>
          <p:cNvSpPr txBox="1"/>
          <p:nvPr/>
        </p:nvSpPr>
        <p:spPr>
          <a:xfrm>
            <a:off x="1574222" y="3924981"/>
            <a:ext cx="7810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555555"/>
                </a:solidFill>
              </a:rPr>
              <a:t>Figure. Local explanations turn an opaque prediction into a human-readable per-feature story.</a:t>
            </a:r>
            <a:r>
              <a:rPr lang="en-US" sz="1000" i="1" baseline="30000">
                <a:solidFill>
                  <a:srgbClr val="555555"/>
                </a:solidFill>
              </a:rPr>
              <a:t>[6]</a:t>
            </a:r>
          </a:p>
        </p:txBody>
      </p:sp>
    </p:spTree>
    <p:extLst>
      <p:ext uri="{BB962C8B-B14F-4D97-AF65-F5344CB8AC3E}">
        <p14:creationId xmlns:p14="http://schemas.microsoft.com/office/powerpoint/2010/main" val="1610708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BCC9-0A07-D917-DA03-05573717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Problem: Why LIME's Local Surrogates Fail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0E25D-8502-8102-C1BB-D9635F40F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86055"/>
            <a:ext cx="4563374" cy="2908300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/>
              <a:t>Input: </a:t>
            </a:r>
            <a:r>
              <a:rPr lang="en-US" sz="1400"/>
              <a:t>trained classifier </a:t>
            </a:r>
            <a:r>
              <a:rPr lang="en-US" sz="1400" i="1"/>
              <a:t>f</a:t>
            </a:r>
            <a:r>
              <a:rPr lang="en-US" sz="1400"/>
              <a:t>, test instance </a:t>
            </a:r>
            <a:r>
              <a:rPr lang="en-US" sz="1400" i="1"/>
              <a:t>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/>
              <a:t>Output: </a:t>
            </a:r>
            <a:r>
              <a:rPr lang="en-US" sz="1400"/>
              <a:t>local feature importances </a:t>
            </a:r>
            <a:r>
              <a:rPr lang="en-US" sz="1400" i="1"/>
              <a:t>w</a:t>
            </a:r>
            <a:endParaRPr lang="en-US" sz="1400"/>
          </a:p>
          <a:p>
            <a:pPr marL="0" indent="0">
              <a:buNone/>
            </a:pPr>
            <a:r>
              <a:rPr lang="en-US" sz="1400" b="1"/>
              <a:t>Issues </a:t>
            </a:r>
            <a:r>
              <a:rPr lang="en-US" sz="1400" b="1" baseline="30000"/>
              <a:t>[7]</a:t>
            </a:r>
            <a:r>
              <a:rPr lang="en-US" sz="1400" b="1"/>
              <a:t>:</a:t>
            </a:r>
          </a:p>
          <a:p>
            <a:pPr marL="628650" lvl="1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Low fidelity</a:t>
            </a:r>
            <a:r>
              <a:rPr lang="en-US" sz="1200"/>
              <a:t> — when </a:t>
            </a:r>
            <a:r>
              <a:rPr lang="en-US" sz="1200" i="1"/>
              <a:t>x</a:t>
            </a:r>
            <a:r>
              <a:rPr lang="en-US" sz="1200"/>
              <a:t> is far from the decision boundary, sampled points share one class and the surrogate misses the boundary and has unlimited freedom.</a:t>
            </a:r>
          </a:p>
          <a:p>
            <a:pPr marL="628650" lvl="1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Instability</a:t>
            </a:r>
            <a:r>
              <a:rPr lang="en-US" sz="1200"/>
              <a:t> — random neighborhood sampling makes the explanation change across re-runs</a:t>
            </a:r>
            <a:r>
              <a:rPr lang="en-US" sz="1400"/>
              <a:t>.</a:t>
            </a:r>
          </a:p>
        </p:txBody>
      </p:sp>
      <p:pic>
        <p:nvPicPr>
          <p:cNvPr id="5" name="Copied Picture 5">
            <a:extLst>
              <a:ext uri="{FF2B5EF4-FFF2-40B4-BE49-F238E27FC236}">
                <a16:creationId xmlns:a16="http://schemas.microsoft.com/office/drawing/2014/main" id="{54E7DAF2-BD19-DCF8-7953-23B7AF52C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524500" y="1117600"/>
            <a:ext cx="3378200" cy="29083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FigCaption">
            <a:extLst>
              <a:ext uri="{FF2B5EF4-FFF2-40B4-BE49-F238E27FC236}">
                <a16:creationId xmlns:a16="http://schemas.microsoft.com/office/drawing/2014/main" id="{FD8567AB-FA4F-478C-B3B0-43586D38575D}"/>
              </a:ext>
            </a:extLst>
          </p:cNvPr>
          <p:cNvSpPr txBox="1"/>
          <p:nvPr/>
        </p:nvSpPr>
        <p:spPr>
          <a:xfrm>
            <a:off x="5524500" y="4254500"/>
            <a:ext cx="33782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000" i="1">
                <a:solidFill>
                  <a:srgbClr val="555555"/>
                </a:solidFill>
              </a:rPr>
              <a:t>Figure. LIME perturbations sample a neighborhood that misses the decision surface when x is far from it </a:t>
            </a:r>
            <a:r>
              <a:rPr lang="en-US" sz="1000" i="1" baseline="30000">
                <a:solidFill>
                  <a:srgbClr val="555555"/>
                </a:solidFill>
              </a:rPr>
              <a:t>[2]</a:t>
            </a:r>
            <a:r>
              <a:rPr lang="en-US" sz="1000" i="1">
                <a:solidFill>
                  <a:srgbClr val="55555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5879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B3A0-7445-04A8-3157-15AB1D03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Related Works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F2A0B0-91D4-4DED-BEB5-5E8D70FED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942693"/>
              </p:ext>
            </p:extLst>
          </p:nvPr>
        </p:nvGraphicFramePr>
        <p:xfrm>
          <a:off x="457200" y="1086424"/>
          <a:ext cx="8229600" cy="263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556095329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7589151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38432961"/>
                    </a:ext>
                  </a:extLst>
                </a:gridCol>
              </a:tblGrid>
              <a:tr h="42362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Sampling strategy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38135"/>
                  </a:ext>
                </a:extLst>
              </a:tr>
              <a:tr h="423622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LIME</a:t>
                      </a:r>
                      <a:r>
                        <a:rPr lang="en-US" sz="1400" baseline="30000"/>
                        <a:t>[6]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Random Gaussian around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2016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204295"/>
                  </a:ext>
                </a:extLst>
              </a:tr>
              <a:tr h="423622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GLIME</a:t>
                      </a:r>
                      <a:r>
                        <a:rPr lang="en-US" sz="1400" baseline="30000"/>
                        <a:t>[7]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Globally Gaussian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769644"/>
                  </a:ext>
                </a:extLst>
              </a:tr>
              <a:tr h="423622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USLIME</a:t>
                      </a:r>
                      <a:r>
                        <a:rPr lang="en-US" sz="1400" baseline="30000"/>
                        <a:t>[8]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Uniform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539064"/>
                  </a:ext>
                </a:extLst>
              </a:tr>
              <a:tr h="423622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CALIME</a:t>
                      </a:r>
                      <a:r>
                        <a:rPr lang="en-US" sz="1400" baseline="30000"/>
                        <a:t>[9]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Cluster-aware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015966"/>
                  </a:ext>
                </a:extLst>
              </a:tr>
              <a:tr h="471012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ABLE (ours)</a:t>
                      </a:r>
                      <a:r>
                        <a:rPr lang="en-US" sz="1400" b="1" baseline="30000"/>
                        <a:t>[2]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Adversarial pairs straddling the decision boundary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2026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836066"/>
                  </a:ext>
                </a:extLst>
              </a:tr>
            </a:tbl>
          </a:graphicData>
        </a:graphic>
      </p:graphicFrame>
      <p:sp>
        <p:nvSpPr>
          <p:cNvPr id="7" name="Takeaway">
            <a:extLst>
              <a:ext uri="{FF2B5EF4-FFF2-40B4-BE49-F238E27FC236}">
                <a16:creationId xmlns:a16="http://schemas.microsoft.com/office/drawing/2014/main" id="{E219F326-9B41-4C01-8D41-157FACF9D780}"/>
              </a:ext>
            </a:extLst>
          </p:cNvPr>
          <p:cNvSpPr txBox="1"/>
          <p:nvPr/>
        </p:nvSpPr>
        <p:spPr>
          <a:xfrm>
            <a:off x="457200" y="3795466"/>
            <a:ext cx="8229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US" sz="1400"/>
              <a:t>All four LIME variants sample without regard to the decision boundary. </a:t>
            </a:r>
            <a:r>
              <a:rPr lang="en-US" sz="1400" b="1">
                <a:solidFill>
                  <a:srgbClr val="1F497D"/>
                </a:solidFill>
              </a:rPr>
              <a:t>ABLE is the first to construct the local model directly from boundary-anchored points.</a:t>
            </a:r>
          </a:p>
        </p:txBody>
      </p:sp>
    </p:spTree>
    <p:extLst>
      <p:ext uri="{BB962C8B-B14F-4D97-AF65-F5344CB8AC3E}">
        <p14:creationId xmlns:p14="http://schemas.microsoft.com/office/powerpoint/2010/main" val="2553815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378D-63DA-2D89-1624-0ECDB37A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31" y="124699"/>
            <a:ext cx="8229600" cy="857250"/>
          </a:xfrm>
        </p:spPr>
        <p:txBody>
          <a:bodyPr>
            <a:noAutofit/>
          </a:bodyPr>
          <a:lstStyle/>
          <a:p>
            <a:r>
              <a:rPr lang="en-US" sz="2400"/>
              <a:t>Our Approach: Adversarially Bracketed Local Explanation (ABLE)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AD990-431E-0B7F-424E-9064ECEA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431" y="1155700"/>
            <a:ext cx="4038600" cy="30988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/>
              <a:t>An </a:t>
            </a:r>
            <a:r>
              <a:rPr lang="en-US" sz="1300" b="1"/>
              <a:t>adversarial perturbation</a:t>
            </a:r>
            <a:r>
              <a:rPr lang="en-US" sz="1300"/>
              <a:t> is a minimal input change that flips the model's prediction. An adversarial pair (original, perturbed) sits on opposite sides of the local boundary.</a:t>
            </a:r>
          </a:p>
          <a:p>
            <a:pPr marL="0" indent="0">
              <a:buNone/>
            </a:pPr>
            <a:endParaRPr lang="en-US" sz="1300"/>
          </a:p>
          <a:p>
            <a:pPr marL="228600" indent="-228600">
              <a:lnSpc>
                <a:spcPct val="125000"/>
              </a:lnSpc>
              <a:buNone/>
            </a:pPr>
            <a:r>
              <a:rPr lang="en-US" sz="1300" b="1"/>
              <a:t>Step 1 — Neighborhood construction: </a:t>
            </a:r>
            <a:r>
              <a:rPr lang="en-US" sz="1300"/>
              <a:t>sample </a:t>
            </a:r>
            <a:r>
              <a:rPr lang="en-US" sz="1300" i="1"/>
              <a:t>n</a:t>
            </a:r>
            <a:r>
              <a:rPr lang="en-US" sz="1300"/>
              <a:t> points around </a:t>
            </a:r>
            <a:r>
              <a:rPr lang="en-US" sz="1300" i="1"/>
              <a:t>x_test</a:t>
            </a:r>
            <a:r>
              <a:rPr lang="en-US" sz="1300"/>
              <a:t>.</a:t>
            </a:r>
          </a:p>
          <a:p>
            <a:pPr marL="228600" indent="-228600">
              <a:lnSpc>
                <a:spcPct val="125000"/>
              </a:lnSpc>
              <a:buNone/>
            </a:pPr>
            <a:r>
              <a:rPr lang="en-US" sz="1300" b="1"/>
              <a:t>Step 2 — Adversarial pair generation: </a:t>
            </a:r>
            <a:r>
              <a:rPr lang="en-US" sz="1300"/>
              <a:t>forward attack → reverse attack → boundary-bracketing pair.</a:t>
            </a:r>
          </a:p>
          <a:p>
            <a:pPr marL="228600" indent="-228600">
              <a:lnSpc>
                <a:spcPct val="125000"/>
              </a:lnSpc>
              <a:buNone/>
            </a:pPr>
            <a:r>
              <a:rPr lang="en-US" sz="1300" b="1"/>
              <a:t>Step 3 — Local surrogate fit: </a:t>
            </a:r>
            <a:r>
              <a:rPr lang="en-US" sz="1300"/>
              <a:t>fit a linear model on the pairs; coefficients are the feature importances.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537318-F02A-825B-B318-592B52D9BD5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451228" y="981948"/>
            <a:ext cx="4692772" cy="301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232C44-13C4-5550-3829-4CE9F58F6023}"/>
              </a:ext>
            </a:extLst>
          </p:cNvPr>
          <p:cNvSpPr txBox="1"/>
          <p:nvPr/>
        </p:nvSpPr>
        <p:spPr>
          <a:xfrm>
            <a:off x="4953000" y="4158648"/>
            <a:ext cx="4038600" cy="635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000" i="1">
                <a:solidFill>
                  <a:srgbClr val="555555"/>
                </a:solidFill>
              </a:rPr>
              <a:t>Figure. ABLE local boundary. Pairs that straddle the boundary → surrogate that hugs the boundary. </a:t>
            </a:r>
            <a:r>
              <a:rPr lang="en-US" sz="1000" i="1" baseline="30000">
                <a:solidFill>
                  <a:srgbClr val="555555"/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516509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0F20-72D0-BB04-E2C6-19305921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090B-439A-ADA5-FF9A-8B21F873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4968"/>
            <a:ext cx="8229600" cy="759878"/>
          </a:xfrm>
        </p:spPr>
        <p:txBody>
          <a:bodyPr/>
          <a:lstStyle/>
          <a:p>
            <a:r>
              <a:rPr lang="en-US"/>
              <a:t>Experimental Design</a:t>
            </a:r>
            <a:r>
              <a:rPr lang="en-US" baseline="30000"/>
              <a:t>[2]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05D420F-2A69-E645-C9F3-2BCBF19BC583}"/>
              </a:ext>
            </a:extLst>
          </p:cNvPr>
          <p:cNvSpPr txBox="1">
            <a:spLocks/>
          </p:cNvSpPr>
          <p:nvPr/>
        </p:nvSpPr>
        <p:spPr>
          <a:xfrm>
            <a:off x="457200" y="701341"/>
            <a:ext cx="8229600" cy="125274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300" b="1"/>
              <a:t>Research Questions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RQ1 — Fidelity: </a:t>
            </a:r>
            <a:r>
              <a:rPr lang="en-US" sz="1200"/>
              <a:t>How accurately does ABLE replicate the model in the local neighborhood?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RQ2 — Stability: </a:t>
            </a:r>
            <a:r>
              <a:rPr lang="en-US" sz="1200"/>
              <a:t>How consistent are explanations under small input perturbations?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RQ3 — Sensitivity: </a:t>
            </a:r>
            <a:r>
              <a:rPr lang="en-US" sz="1200"/>
              <a:t>How do neighborhood radius and number of adversarial pairs affect performance?</a:t>
            </a:r>
          </a:p>
        </p:txBody>
      </p:sp>
      <p:sp>
        <p:nvSpPr>
          <p:cNvPr id="3" name="ColLeft">
            <a:extLst>
              <a:ext uri="{FF2B5EF4-FFF2-40B4-BE49-F238E27FC236}">
                <a16:creationId xmlns:a16="http://schemas.microsoft.com/office/drawing/2014/main" id="{51F7AF03-38EF-48BF-AB1A-6B2366D37446}"/>
              </a:ext>
            </a:extLst>
          </p:cNvPr>
          <p:cNvSpPr txBox="1"/>
          <p:nvPr/>
        </p:nvSpPr>
        <p:spPr>
          <a:xfrm>
            <a:off x="508000" y="1826915"/>
            <a:ext cx="3647052" cy="261524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300" b="1"/>
              <a:t>Target Models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MLP, TabNet, TabTransformer</a:t>
            </a: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300" b="1"/>
              <a:t>Attack Variants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White-box: PGD, FGSM, etDF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Black-box: HopSkipJump (HSJ)</a:t>
            </a:r>
          </a:p>
          <a:p>
            <a:pPr>
              <a:lnSpc>
                <a:spcPct val="120000"/>
              </a:lnSpc>
            </a:pPr>
            <a:endParaRPr lang="en-US" sz="1200"/>
          </a:p>
          <a:p>
            <a:r>
              <a:rPr lang="en-US" sz="1300" b="1"/>
              <a:t>Baselines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LIME, GLIME, USLIME, CALIME</a:t>
            </a:r>
          </a:p>
          <a:p>
            <a:endParaRPr lang="en-US" sz="1100"/>
          </a:p>
          <a:p>
            <a:r>
              <a:rPr lang="en-US" sz="1300" b="1"/>
              <a:t>Metrics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R² (fidelity), Jaccard@5 (stability), Runtime</a:t>
            </a:r>
          </a:p>
          <a:p>
            <a:pPr>
              <a:lnSpc>
                <a:spcPct val="120000"/>
              </a:lnSpc>
            </a:pPr>
            <a:endParaRPr lang="en-US" sz="1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1829F8-FA08-A549-3EF4-4565097CA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052" y="2100263"/>
            <a:ext cx="4480948" cy="1691787"/>
          </a:xfrm>
          <a:prstGeom prst="rect">
            <a:avLst/>
          </a:prstGeom>
        </p:spPr>
      </p:pic>
      <p:sp>
        <p:nvSpPr>
          <p:cNvPr id="9" name="DatasetCaption">
            <a:extLst>
              <a:ext uri="{FF2B5EF4-FFF2-40B4-BE49-F238E27FC236}">
                <a16:creationId xmlns:a16="http://schemas.microsoft.com/office/drawing/2014/main" id="{E8BDDA2D-5611-4875-B7B3-01FE47A4544B}"/>
              </a:ext>
            </a:extLst>
          </p:cNvPr>
          <p:cNvSpPr txBox="1"/>
          <p:nvPr/>
        </p:nvSpPr>
        <p:spPr>
          <a:xfrm>
            <a:off x="4152900" y="3810000"/>
            <a:ext cx="44831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00" i="1">
                <a:solidFill>
                  <a:srgbClr val="333333"/>
                </a:solidFill>
              </a:rPr>
              <a:t>Table. Binary-class (CreditDefault, AdultIncome, BreastCancer, Mushroom) and multi-class (CarEvaluation, Covertype) datasets. The table summarizes instances, categorical and continuous features, and class distributions. </a:t>
            </a:r>
            <a:r>
              <a:rPr lang="en-US" sz="1000" i="1" baseline="30000">
                <a:solidFill>
                  <a:srgbClr val="333333"/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581111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87AF-C702-6B04-0AD8-554F96858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E6BC-4069-2D44-B9A3-6B3BE4DB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Fidelity Results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ABD9797-F7FC-A611-1423-27D5188A0B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316" y="1096248"/>
            <a:ext cx="4214483" cy="2897457"/>
          </a:xfrm>
          <a:prstGeom prst="rect">
            <a:avLst/>
          </a:prstGeom>
        </p:spPr>
      </p:pic>
      <p:sp>
        <p:nvSpPr>
          <p:cNvPr id="9" name="AutoShape 2">
            <a:extLst>
              <a:ext uri="{FF2B5EF4-FFF2-40B4-BE49-F238E27FC236}">
                <a16:creationId xmlns:a16="http://schemas.microsoft.com/office/drawing/2014/main" id="{12F571ED-2C81-353C-7451-EFEC3D3E6D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80577" y="265280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10883C8C-E698-936F-C974-C034D5E731A0}"/>
              </a:ext>
            </a:extLst>
          </p:cNvPr>
          <p:cNvSpPr txBox="1"/>
          <p:nvPr/>
        </p:nvSpPr>
        <p:spPr>
          <a:xfrm>
            <a:off x="457200" y="1270000"/>
            <a:ext cx="3752491" cy="281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/>
              <a:t>ABLE achieves the highest fidelity in </a:t>
            </a:r>
            <a:r>
              <a:rPr lang="en-US" sz="1400" b="1">
                <a:solidFill>
                  <a:srgbClr val="1F497D"/>
                </a:solidFill>
              </a:rPr>
              <a:t>16 of 18</a:t>
            </a:r>
            <a:r>
              <a:rPr lang="en-US" sz="1400"/>
              <a:t> (model × dataset) configurations. Average </a:t>
            </a:r>
            <a:r>
              <a:rPr lang="en-US" sz="1400" b="1"/>
              <a:t>R² = 0.91</a:t>
            </a:r>
            <a:r>
              <a:rPr lang="en-US" sz="1400"/>
              <a:t> vs. 0.61 for the best baseline (CALIME), a </a:t>
            </a:r>
            <a:r>
              <a:rPr lang="en-US" sz="1400" b="1">
                <a:solidFill>
                  <a:srgbClr val="1F497D"/>
                </a:solidFill>
              </a:rPr>
              <a:t>48% relative gain</a:t>
            </a:r>
            <a:r>
              <a:rPr lang="en-US" sz="1400"/>
              <a:t>.</a:t>
            </a:r>
          </a:p>
          <a:p>
            <a:pPr algn="l"/>
            <a:endParaRPr 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/>
              <a:t>White-box attacks (e.g., </a:t>
            </a:r>
            <a:r>
              <a:rPr lang="en-US" sz="1400" b="1"/>
              <a:t>PGD</a:t>
            </a:r>
            <a:r>
              <a:rPr lang="en-US" sz="1400"/>
              <a:t>) achieve higher fidelity than black-box attacks (e.g., </a:t>
            </a:r>
            <a:r>
              <a:rPr lang="en-US" sz="1400" b="1"/>
              <a:t>HSJ</a:t>
            </a:r>
            <a:r>
              <a:rPr lang="en-US" sz="1400"/>
              <a:t>).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78D0BF47-0BA6-DC1B-0274-CF88C662BC18}"/>
              </a:ext>
            </a:extLst>
          </p:cNvPr>
          <p:cNvSpPr txBox="1"/>
          <p:nvPr/>
        </p:nvSpPr>
        <p:spPr>
          <a:xfrm>
            <a:off x="4675517" y="40894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000" i="1">
                <a:solidFill>
                  <a:srgbClr val="555555"/>
                </a:solidFill>
              </a:rPr>
              <a:t>Figure. Higher is better. Fidelity = R² of the local surrogate against the model in the local neighborhood. </a:t>
            </a:r>
            <a:r>
              <a:rPr lang="en-US" sz="1000" i="1" baseline="30000">
                <a:solidFill>
                  <a:srgbClr val="555555"/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658774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4A11-C5FF-2087-4086-2679CAF50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Stability Results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A780D90-30F0-D021-BEB5-80B66D4E64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0" y="1206500"/>
            <a:ext cx="4064000" cy="2794000"/>
          </a:xfrm>
          <a:prstGeom prst="rect">
            <a:avLst/>
          </a:prstGeom>
        </p:spPr>
      </p:pic>
      <p:sp>
        <p:nvSpPr>
          <p:cNvPr id="3" name="Summary">
            <a:extLst>
              <a:ext uri="{FF2B5EF4-FFF2-40B4-BE49-F238E27FC236}">
                <a16:creationId xmlns:a16="http://schemas.microsoft.com/office/drawing/2014/main" id="{1507B00D-7331-4B1C-AF10-C271B325623B}"/>
              </a:ext>
            </a:extLst>
          </p:cNvPr>
          <p:cNvSpPr txBox="1"/>
          <p:nvPr/>
        </p:nvSpPr>
        <p:spPr>
          <a:xfrm>
            <a:off x="457200" y="1270000"/>
            <a:ext cx="4064000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en-US" sz="1400"/>
              <a:t>ABLE variants are more stable than baselines in </a:t>
            </a:r>
            <a:r>
              <a:rPr lang="en-US" sz="1400">
                <a:solidFill>
                  <a:srgbClr val="1F497D"/>
                </a:solidFill>
              </a:rPr>
              <a:t>12 of 16</a:t>
            </a:r>
            <a:r>
              <a:rPr lang="en-US" sz="1400"/>
              <a:t> (model × dataset) configurations.</a:t>
            </a:r>
          </a:p>
          <a:p>
            <a:pPr marL="0" indent="0" algn="l">
              <a:buNone/>
            </a:pPr>
            <a:endParaRPr lang="en-US" sz="1400"/>
          </a:p>
          <a:p>
            <a:pPr marL="0" indent="0" algn="l">
              <a:buNone/>
            </a:pPr>
            <a:r>
              <a:rPr lang="en-US" sz="1400"/>
              <a:t>White-box attacks (e.g., PGD) deliver more stable explanations than black-box attacks (e.g., HSJ).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BE7128A2-8875-4C8D-8E12-EDD78E2761AF}"/>
              </a:ext>
            </a:extLst>
          </p:cNvPr>
          <p:cNvSpPr txBox="1"/>
          <p:nvPr/>
        </p:nvSpPr>
        <p:spPr>
          <a:xfrm>
            <a:off x="4826000" y="4089400"/>
            <a:ext cx="4064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000" i="1">
                <a:solidFill>
                  <a:srgbClr val="555555"/>
                </a:solidFill>
              </a:rPr>
              <a:t>Figure. Higher score is better. Stability measured across re-runs of the local explainer. </a:t>
            </a:r>
            <a:r>
              <a:rPr lang="en-US" sz="1000" i="1" baseline="30000">
                <a:solidFill>
                  <a:srgbClr val="555555"/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089436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0269D-8020-A373-91F5-C5C526C8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Runtime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312FF4-D27A-00C7-5366-867A0320D2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6965" y="1206500"/>
            <a:ext cx="4787035" cy="2222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4D3F78-C554-C97A-D538-C580EDEE7F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380" y="1206500"/>
            <a:ext cx="4019721" cy="2222500"/>
          </a:xfrm>
          <a:prstGeom prst="rect">
            <a:avLst/>
          </a:prstGeom>
        </p:spPr>
      </p:pic>
      <p:sp>
        <p:nvSpPr>
          <p:cNvPr id="3" name="Summary">
            <a:extLst>
              <a:ext uri="{FF2B5EF4-FFF2-40B4-BE49-F238E27FC236}">
                <a16:creationId xmlns:a16="http://schemas.microsoft.com/office/drawing/2014/main" id="{FA593FA9-5AD3-436A-BF1F-7647A6594892}"/>
              </a:ext>
            </a:extLst>
          </p:cNvPr>
          <p:cNvSpPr txBox="1"/>
          <p:nvPr/>
        </p:nvSpPr>
        <p:spPr>
          <a:xfrm>
            <a:off x="457200" y="3746500"/>
            <a:ext cx="82296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en-US" sz="1200"/>
              <a:t>White-box ABLE variants (e.g., </a:t>
            </a:r>
            <a:r>
              <a:rPr lang="en-US" sz="1200" b="1"/>
              <a:t>PGD</a:t>
            </a:r>
            <a:r>
              <a:rPr lang="en-US" sz="1200"/>
              <a:t>) are slower than baselines, while black-box variants (e.g., </a:t>
            </a:r>
            <a:r>
              <a:rPr lang="en-US" sz="1200" b="1"/>
              <a:t>HSJ</a:t>
            </a:r>
            <a:r>
              <a:rPr lang="en-US" sz="1200"/>
              <a:t>) are the slowest. </a:t>
            </a:r>
            <a:r>
              <a:rPr lang="en-US" sz="1200" b="1">
                <a:solidFill>
                  <a:srgbClr val="1F497D"/>
                </a:solidFill>
              </a:rPr>
              <a:t>FGSM</a:t>
            </a:r>
            <a:r>
              <a:rPr lang="en-US" sz="1200"/>
              <a:t>, a faster ABLE variant, is </a:t>
            </a:r>
            <a:r>
              <a:rPr lang="en-US" sz="1200" b="1">
                <a:solidFill>
                  <a:srgbClr val="1F497D"/>
                </a:solidFill>
              </a:rPr>
              <a:t>comparable to baselines</a:t>
            </a:r>
            <a:r>
              <a:rPr lang="en-US" sz="1200"/>
              <a:t> in runtime while still beating them on fidelity and stability.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36581EF8-9D33-4CAB-977F-1FE291ABF177}"/>
              </a:ext>
            </a:extLst>
          </p:cNvPr>
          <p:cNvSpPr txBox="1"/>
          <p:nvPr/>
        </p:nvSpPr>
        <p:spPr>
          <a:xfrm>
            <a:off x="457200" y="3429000"/>
            <a:ext cx="82296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000" i="1">
                <a:solidFill>
                  <a:srgbClr val="333333"/>
                </a:solidFill>
              </a:rPr>
              <a:t>Figure. A. Lower runtime is better. B. Fidelity vs. runtime trade-off across methods. </a:t>
            </a:r>
            <a:r>
              <a:rPr lang="en-US" sz="1000" i="1" baseline="30000">
                <a:solidFill>
                  <a:srgbClr val="333333"/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745662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2396-761A-A409-85B5-E3F3960C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88" y="106142"/>
            <a:ext cx="8529354" cy="857250"/>
          </a:xfrm>
        </p:spPr>
        <p:txBody>
          <a:bodyPr>
            <a:normAutofit fontScale="90000"/>
          </a:bodyPr>
          <a:lstStyle/>
          <a:p>
            <a:r>
              <a:rPr lang="en-US"/>
              <a:t>Neighborhood Samples and Radius Sensitivity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325979C-9DE6-CD6F-E81B-24FF7D5173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0" y="1079500"/>
            <a:ext cx="4064000" cy="273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38803F-B74D-5CAD-FE20-EE454839FDBA}"/>
              </a:ext>
            </a:extLst>
          </p:cNvPr>
          <p:cNvSpPr txBox="1"/>
          <p:nvPr/>
        </p:nvSpPr>
        <p:spPr>
          <a:xfrm>
            <a:off x="4826000" y="3873500"/>
            <a:ext cx="4064000" cy="76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000" i="1">
                <a:solidFill>
                  <a:srgbClr val="333333"/>
                </a:solidFill>
              </a:rPr>
              <a:t>Figure. Local fidelity vs. neighborhood radius and sample count. Higher is better. </a:t>
            </a:r>
            <a:r>
              <a:rPr lang="en-US" sz="1000" i="1" baseline="30000">
                <a:solidFill>
                  <a:srgbClr val="333333"/>
                </a:solidFill>
              </a:rPr>
              <a:t>[2]</a:t>
            </a:r>
          </a:p>
        </p:txBody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E6681436-C95E-41E1-A2C7-1F7E9BFF5321}"/>
              </a:ext>
            </a:extLst>
          </p:cNvPr>
          <p:cNvSpPr txBox="1"/>
          <p:nvPr/>
        </p:nvSpPr>
        <p:spPr>
          <a:xfrm>
            <a:off x="457200" y="1143000"/>
            <a:ext cx="4064000" cy="1884872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buNone/>
            </a:pPr>
            <a:endParaRPr lang="en-US" sz="1400"/>
          </a:p>
          <a:p>
            <a:pPr marL="228600" indent="-22860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/>
              <a:t>Tightening the neighborhood radius keeps the surrogate close to the true local boundary.</a:t>
            </a:r>
          </a:p>
          <a:p>
            <a:pPr algn="l">
              <a:lnSpc>
                <a:spcPct val="125000"/>
              </a:lnSpc>
            </a:pPr>
            <a:endParaRPr lang="en-US" sz="1400"/>
          </a:p>
          <a:p>
            <a:pPr marL="228600" indent="-22860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/>
              <a:t>Increasing samples within that radius further sharpens the fit, with diminishing returns past a few hundred points.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4303C-84B8-9004-7F97-70351AAB82A1}"/>
              </a:ext>
            </a:extLst>
          </p:cNvPr>
          <p:cNvSpPr txBox="1"/>
          <p:nvPr/>
        </p:nvSpPr>
        <p:spPr>
          <a:xfrm>
            <a:off x="352248" y="352721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/>
              <a:t>Compared with LIME / GLIME's </a:t>
            </a:r>
            <a:r>
              <a:rPr lang="en-US" sz="1200" b="1"/>
              <a:t>5,000</a:t>
            </a:r>
            <a:r>
              <a:rPr lang="en-US" sz="1200"/>
              <a:t> sampled points, ABLE-FGSM needs only </a:t>
            </a:r>
            <a:r>
              <a:rPr lang="en-US" sz="1200" b="1">
                <a:solidFill>
                  <a:srgbClr val="1F497D"/>
                </a:solidFill>
              </a:rPr>
              <a:t>300</a:t>
            </a:r>
            <a:r>
              <a:rPr lang="en-US" sz="1200"/>
              <a:t> query points while achieving stronger fidelity.</a:t>
            </a:r>
          </a:p>
        </p:txBody>
      </p:sp>
    </p:spTree>
    <p:extLst>
      <p:ext uri="{BB962C8B-B14F-4D97-AF65-F5344CB8AC3E}">
        <p14:creationId xmlns:p14="http://schemas.microsoft.com/office/powerpoint/2010/main" val="2574861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1BCEC-1A15-26D7-4D6E-9977E911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1435A9DD-F6A9-DAF5-B4C2-C35F019BE94E}"/>
              </a:ext>
            </a:extLst>
          </p:cNvPr>
          <p:cNvSpPr txBox="1">
            <a:spLocks/>
          </p:cNvSpPr>
          <p:nvPr/>
        </p:nvSpPr>
        <p:spPr>
          <a:xfrm>
            <a:off x="120570" y="1851312"/>
            <a:ext cx="8902860" cy="857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/>
              <a:t>DD-CAM: Minimal Sufficient Explanations for Vision Models Using Delta Debugging </a:t>
            </a:r>
            <a:r>
              <a:rPr lang="en-US" sz="2400" baseline="30000"/>
              <a:t>[3]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BF07704-12E5-D7C9-0376-AA1759B6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0679"/>
            <a:ext cx="8229600" cy="8572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/>
              <a:t>DD-CAM: Vision Local Explanations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715C4-3F2B-EAE7-F753-6688BCFF69DE}"/>
              </a:ext>
            </a:extLst>
          </p:cNvPr>
          <p:cNvSpPr txBox="1"/>
          <p:nvPr/>
        </p:nvSpPr>
        <p:spPr>
          <a:xfrm>
            <a:off x="701899" y="3208001"/>
            <a:ext cx="7592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Krishna Khadka, Yu Lei, Raghu </a:t>
            </a:r>
            <a:r>
              <a:rPr lang="en-US" err="1">
                <a:solidFill>
                  <a:schemeClr val="bg1"/>
                </a:solidFill>
              </a:rPr>
              <a:t>Kacker</a:t>
            </a:r>
            <a:r>
              <a:rPr lang="en-US">
                <a:solidFill>
                  <a:schemeClr val="bg1"/>
                </a:solidFill>
              </a:rPr>
              <a:t>, D Richard Kuhn​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A0881F-6F08-DDCD-9D42-548628B39B2B}"/>
              </a:ext>
            </a:extLst>
          </p:cNvPr>
          <p:cNvSpPr txBox="1"/>
          <p:nvPr/>
        </p:nvSpPr>
        <p:spPr>
          <a:xfrm>
            <a:off x="3220812" y="4076769"/>
            <a:ext cx="270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Targeting </a:t>
            </a:r>
            <a:r>
              <a:rPr lang="en-US" err="1">
                <a:solidFill>
                  <a:schemeClr val="bg1"/>
                </a:solidFill>
              </a:rPr>
              <a:t>NeurIPS</a:t>
            </a:r>
            <a:r>
              <a:rPr lang="en-US">
                <a:solidFill>
                  <a:schemeClr val="bg1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531828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CAB5-EECA-EE98-EE0F-EC9406E4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44A24A-D72E-37C1-6DE6-27F91B4F9C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869360"/>
            <a:ext cx="9155039" cy="1059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F65DE1-E0E2-8B54-7F4F-D240BEF42355}"/>
              </a:ext>
            </a:extLst>
          </p:cNvPr>
          <p:cNvSpPr txBox="1"/>
          <p:nvPr/>
        </p:nvSpPr>
        <p:spPr>
          <a:xfrm>
            <a:off x="457200" y="4010444"/>
            <a:ext cx="822960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buNone/>
            </a:pPr>
            <a:r>
              <a:rPr lang="en-US" sz="1000" i="1">
                <a:solidFill>
                  <a:srgbClr val="333333"/>
                </a:solidFill>
              </a:rPr>
              <a:t>Figure. Existing CAM methods spread attention diffusely. We want a tighter, sufficient region. </a:t>
            </a:r>
            <a:r>
              <a:rPr lang="en-US" sz="1000" i="1" baseline="30000">
                <a:solidFill>
                  <a:srgbClr val="333333"/>
                </a:solidFill>
              </a:rPr>
              <a:t>[3]</a:t>
            </a:r>
          </a:p>
        </p:txBody>
      </p:sp>
      <p:sp>
        <p:nvSpPr>
          <p:cNvPr id="3" name="ProblemIntro">
            <a:extLst>
              <a:ext uri="{FF2B5EF4-FFF2-40B4-BE49-F238E27FC236}">
                <a16:creationId xmlns:a16="http://schemas.microsoft.com/office/drawing/2014/main" id="{4C9856C8-B4F3-4CC5-91FA-2997A428BEE7}"/>
              </a:ext>
            </a:extLst>
          </p:cNvPr>
          <p:cNvSpPr txBox="1"/>
          <p:nvPr/>
        </p:nvSpPr>
        <p:spPr>
          <a:xfrm>
            <a:off x="457200" y="1143000"/>
            <a:ext cx="822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/>
              <a:t>Class Activation Maps (CAMs) highlight image regions a CNN uses to classify: the standard saliency tool for vision models.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/>
              <a:t>Input: </a:t>
            </a:r>
            <a:r>
              <a:rPr lang="en-US" sz="1300"/>
              <a:t>vision model </a:t>
            </a:r>
            <a:r>
              <a:rPr lang="en-US" sz="1300" i="1"/>
              <a:t>M</a:t>
            </a:r>
            <a:r>
              <a:rPr lang="en-US" sz="1300"/>
              <a:t>, image </a:t>
            </a:r>
            <a:r>
              <a:rPr lang="en-US" sz="1300" i="1"/>
              <a:t>x</a:t>
            </a:r>
            <a:r>
              <a:rPr lang="en-US" sz="1300"/>
              <a:t>, predicted class </a:t>
            </a:r>
            <a:r>
              <a:rPr lang="en-US" sz="1300" i="1"/>
              <a:t>ĉ</a:t>
            </a:r>
            <a:r>
              <a:rPr lang="en-US" sz="1300"/>
              <a:t>.   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300" b="1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/>
              <a:t>Output: </a:t>
            </a:r>
            <a:r>
              <a:rPr lang="en-US" sz="1300"/>
              <a:t>a saliency map highlighting the minimum sufficient input region driving </a:t>
            </a:r>
            <a:r>
              <a:rPr lang="en-US" sz="1300" i="1"/>
              <a:t>ĉ</a:t>
            </a:r>
            <a:r>
              <a:rPr lang="en-US" sz="13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6990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B1E6-CF31-EEDA-8B4A-C7E50284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Delta Debugging Analogy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EDFFF2-1C2C-6AA5-1828-79AC336F5E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8705" y="1030104"/>
            <a:ext cx="5666589" cy="3083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1A40D0-DB9A-D542-823D-A0ACA644E30C}"/>
              </a:ext>
            </a:extLst>
          </p:cNvPr>
          <p:cNvSpPr txBox="1"/>
          <p:nvPr/>
        </p:nvSpPr>
        <p:spPr>
          <a:xfrm>
            <a:off x="1150112" y="3910195"/>
            <a:ext cx="7289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</a:pPr>
            <a:r>
              <a:rPr lang="en-US" sz="1100" i="1">
                <a:solidFill>
                  <a:srgbClr val="5F5F5F"/>
                </a:solidFill>
              </a:rPr>
              <a:t>Figure: Like Delta debugging </a:t>
            </a:r>
            <a:r>
              <a:rPr lang="en-US" sz="1100" i="1" baseline="30000">
                <a:solidFill>
                  <a:srgbClr val="5F5F5F"/>
                </a:solidFill>
              </a:rPr>
              <a:t>[10]</a:t>
            </a:r>
            <a:r>
              <a:rPr lang="en-US" sz="1100" i="1">
                <a:solidFill>
                  <a:srgbClr val="5F5F5F"/>
                </a:solidFill>
              </a:rPr>
              <a:t> </a:t>
            </a:r>
            <a:r>
              <a:rPr lang="en-US" sz="1100" i="1" err="1">
                <a:solidFill>
                  <a:srgbClr val="5F5F5F"/>
                </a:solidFill>
              </a:rPr>
              <a:t>indentifies</a:t>
            </a:r>
            <a:r>
              <a:rPr lang="en-US" sz="1100" i="1">
                <a:solidFill>
                  <a:srgbClr val="5F5F5F"/>
                </a:solidFill>
              </a:rPr>
              <a:t> a failing input to the minimal bug-inducing fragment in software debugging, in explanation it shrinks a model prediction to the minimal region that preserves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4177598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E3ED4-B90E-5F9F-0B51-B958FFD0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Idea: Minimal Sufficient Set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0035160-D7C3-6D92-A7C2-6523189B5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8954" y="1096249"/>
            <a:ext cx="5507749" cy="31643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537E79-B285-27AD-1BC0-3C866A04B034}"/>
              </a:ext>
            </a:extLst>
          </p:cNvPr>
          <p:cNvSpPr txBox="1"/>
          <p:nvPr/>
        </p:nvSpPr>
        <p:spPr>
          <a:xfrm>
            <a:off x="118544" y="1064206"/>
            <a:ext cx="3060507" cy="3240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1400"/>
              <a:t>Find the smallest set of internal units that alone preserves the model's prediction.</a:t>
            </a:r>
          </a:p>
          <a:p>
            <a:pPr marL="228600" indent="-22860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Sufficient: </a:t>
            </a:r>
            <a:r>
              <a:rPr lang="en-US" sz="1400"/>
              <a:t>activating only </a:t>
            </a:r>
            <a:r>
              <a:rPr lang="en-US" sz="1400" i="1"/>
              <a:t>S</a:t>
            </a:r>
            <a:r>
              <a:rPr lang="en-US" sz="1400"/>
              <a:t> keeps prediction </a:t>
            </a:r>
            <a:r>
              <a:rPr lang="en-US" sz="1400" i="1"/>
              <a:t>ĉ</a:t>
            </a:r>
            <a:r>
              <a:rPr lang="en-US" sz="1400"/>
              <a:t>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1-minimal: </a:t>
            </a:r>
            <a:r>
              <a:rPr lang="en-US" sz="1400"/>
              <a:t>removing any one unit breaks it.</a:t>
            </a:r>
          </a:p>
          <a:p>
            <a:pPr>
              <a:spcAft>
                <a:spcPts val="400"/>
              </a:spcAft>
              <a:buNone/>
            </a:pPr>
            <a:r>
              <a:rPr lang="en-US" sz="1200" i="1">
                <a:solidFill>
                  <a:srgbClr val="555555"/>
                </a:solidFill>
              </a:rPr>
              <a:t>Same notion of minimality as 1-minimal failure-inducing inputs in program debugging.</a:t>
            </a:r>
          </a:p>
          <a:p>
            <a:pPr>
              <a:spcAft>
                <a:spcPts val="200"/>
              </a:spcAft>
              <a:buNone/>
            </a:pPr>
            <a:r>
              <a:rPr lang="en-US" sz="1400" b="1"/>
              <a:t>Why internal units?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/>
              <a:t>~512 channels vs. ~150,000 pixels, much smaller search.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C0392-386B-4169-BB38-0F0129B5D6FE}"/>
              </a:ext>
            </a:extLst>
          </p:cNvPr>
          <p:cNvSpPr txBox="1"/>
          <p:nvPr/>
        </p:nvSpPr>
        <p:spPr>
          <a:xfrm>
            <a:off x="3390900" y="4279900"/>
            <a:ext cx="55118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555555"/>
                </a:solidFill>
              </a:rPr>
              <a:t>Figure. Minimal sufficient set: smallest internal-unit subset that alone preserves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1250169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28FA-58E9-E3F8-5A27-1398F6E2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Related Work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BEDC03-DF59-40E6-9CB5-09453561F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010059"/>
              </p:ext>
            </p:extLst>
          </p:nvPr>
        </p:nvGraphicFramePr>
        <p:xfrm>
          <a:off x="879893" y="1096249"/>
          <a:ext cx="7867291" cy="2880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541">
                  <a:extLst>
                    <a:ext uri="{9D8B030D-6E8A-4147-A177-3AD203B41FA5}">
                      <a16:colId xmlns:a16="http://schemas.microsoft.com/office/drawing/2014/main" val="1957828620"/>
                    </a:ext>
                  </a:extLst>
                </a:gridCol>
                <a:gridCol w="3035220">
                  <a:extLst>
                    <a:ext uri="{9D8B030D-6E8A-4147-A177-3AD203B41FA5}">
                      <a16:colId xmlns:a16="http://schemas.microsoft.com/office/drawing/2014/main" val="1468007538"/>
                    </a:ext>
                  </a:extLst>
                </a:gridCol>
                <a:gridCol w="2889530">
                  <a:extLst>
                    <a:ext uri="{9D8B030D-6E8A-4147-A177-3AD203B41FA5}">
                      <a16:colId xmlns:a16="http://schemas.microsoft.com/office/drawing/2014/main" val="43507924"/>
                    </a:ext>
                  </a:extLst>
                </a:gridCol>
              </a:tblGrid>
              <a:tr h="576101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Methods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How it weights feature maps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19546"/>
                  </a:ext>
                </a:extLst>
              </a:tr>
              <a:tr h="576101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Gradient-based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Grad-CAM </a:t>
                      </a:r>
                      <a:r>
                        <a:rPr lang="en-US" sz="1400" baseline="30000"/>
                        <a:t>[11]</a:t>
                      </a:r>
                      <a:r>
                        <a:rPr lang="en-US" sz="1400"/>
                        <a:t>, Grad-CAM++ </a:t>
                      </a:r>
                      <a:r>
                        <a:rPr lang="en-US" sz="1400" baseline="30000"/>
                        <a:t>[12]</a:t>
                      </a:r>
                      <a:r>
                        <a:rPr lang="en-US" sz="1400"/>
                        <a:t>, XGrad-CAM </a:t>
                      </a:r>
                      <a:r>
                        <a:rPr lang="en-US" sz="1400" baseline="30000"/>
                        <a:t>[13]</a:t>
                      </a:r>
                      <a:r>
                        <a:rPr lang="en-US" sz="1400"/>
                        <a:t>, Layer-CAM </a:t>
                      </a:r>
                      <a:r>
                        <a:rPr lang="en-US" sz="1400" baseline="30000"/>
                        <a:t>[14]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Gradient of class score w.r.t. activations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302348"/>
                  </a:ext>
                </a:extLst>
              </a:tr>
              <a:tr h="576101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Perturbation-based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Score-CAM </a:t>
                      </a:r>
                      <a:r>
                        <a:rPr lang="en-US" sz="1400" baseline="30000"/>
                        <a:t>[15]</a:t>
                      </a:r>
                      <a:r>
                        <a:rPr lang="en-US" sz="1400"/>
                        <a:t>, Ablation-CAM </a:t>
                      </a:r>
                      <a:r>
                        <a:rPr lang="en-US" sz="1400" baseline="30000"/>
                        <a:t>[16]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Mask each map, measure score drop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386702"/>
                  </a:ext>
                </a:extLst>
              </a:tr>
              <a:tr h="576101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Reciprocity-based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Recipro-CAM </a:t>
                      </a:r>
                      <a:r>
                        <a:rPr lang="en-US" sz="1400" baseline="30000"/>
                        <a:t>[17]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Spatial reciprocity between maps and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759733"/>
                  </a:ext>
                </a:extLst>
              </a:tr>
              <a:tr h="576101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Delta Debugging (ours)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DD-CAM </a:t>
                      </a:r>
                      <a:r>
                        <a:rPr lang="en-US" sz="1400" b="1" baseline="30000"/>
                        <a:t>[3]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Minimal sufficient subset via delta debugging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2572"/>
                  </a:ext>
                </a:extLst>
              </a:tr>
            </a:tbl>
          </a:graphicData>
        </a:graphic>
      </p:graphicFrame>
      <p:sp>
        <p:nvSpPr>
          <p:cNvPr id="7" name="Takeaway">
            <a:extLst>
              <a:ext uri="{FF2B5EF4-FFF2-40B4-BE49-F238E27FC236}">
                <a16:creationId xmlns:a16="http://schemas.microsoft.com/office/drawing/2014/main" id="{F1DB0083-4EDB-4D9F-8911-5F86D4901134}"/>
              </a:ext>
            </a:extLst>
          </p:cNvPr>
          <p:cNvSpPr txBox="1"/>
          <p:nvPr/>
        </p:nvSpPr>
        <p:spPr>
          <a:xfrm>
            <a:off x="790178" y="4115016"/>
            <a:ext cx="8229600" cy="41126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buNone/>
            </a:pPr>
            <a:r>
              <a:rPr lang="en-US" sz="1300" b="1"/>
              <a:t>All seven baselines weight all </a:t>
            </a:r>
            <a:r>
              <a:rPr lang="en-US" sz="1300" b="1" i="1"/>
              <a:t>K</a:t>
            </a:r>
            <a:r>
              <a:rPr lang="en-US" sz="1300" b="1"/>
              <a:t> feature maps. DD-CAM </a:t>
            </a:r>
            <a:r>
              <a:rPr lang="en-US" sz="1300" b="1">
                <a:solidFill>
                  <a:srgbClr val="1F497D"/>
                </a:solidFill>
              </a:rPr>
              <a:t>selects a small subset</a:t>
            </a:r>
            <a:r>
              <a:rPr lang="en-US" sz="1300" b="1"/>
              <a:t> and discards the rest.</a:t>
            </a:r>
          </a:p>
        </p:txBody>
      </p:sp>
    </p:spTree>
    <p:extLst>
      <p:ext uri="{BB962C8B-B14F-4D97-AF65-F5344CB8AC3E}">
        <p14:creationId xmlns:p14="http://schemas.microsoft.com/office/powerpoint/2010/main" val="2241612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0C5D-981D-A174-B3D8-0AD82E66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013"/>
            <a:ext cx="8128000" cy="594987"/>
          </a:xfrm>
        </p:spPr>
        <p:txBody>
          <a:bodyPr/>
          <a:lstStyle/>
          <a:p>
            <a:r>
              <a:rPr lang="en-US" sz="2800"/>
              <a:t>Approach</a:t>
            </a:r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3F4ADC7-D571-626D-DA77-A21D31EFAA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585" y="532199"/>
            <a:ext cx="4808601" cy="309952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0C8819-0EE8-786E-7BA4-92B6BE9AB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3961" y="634999"/>
            <a:ext cx="3773648" cy="2996721"/>
          </a:xfrm>
          <a:prstGeom prst="rect">
            <a:avLst/>
          </a:prstGeom>
        </p:spPr>
      </p:pic>
      <p:sp>
        <p:nvSpPr>
          <p:cNvPr id="3" name="FigureCaption">
            <a:extLst>
              <a:ext uri="{FF2B5EF4-FFF2-40B4-BE49-F238E27FC236}">
                <a16:creationId xmlns:a16="http://schemas.microsoft.com/office/drawing/2014/main" id="{10A641EC-D8E0-4C5C-83A7-1052FD4E5628}"/>
              </a:ext>
            </a:extLst>
          </p:cNvPr>
          <p:cNvSpPr txBox="1"/>
          <p:nvPr/>
        </p:nvSpPr>
        <p:spPr>
          <a:xfrm>
            <a:off x="5367235" y="3746500"/>
            <a:ext cx="34671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00" i="1">
                <a:solidFill>
                  <a:srgbClr val="333333"/>
                </a:solidFill>
              </a:rPr>
              <a:t>Figure. Worked example of delta debugging: iteratively halve the candidate set, keep the half whose activation alone preserves the prediction, until a 1-minimal sufficient subset remains.</a:t>
            </a:r>
          </a:p>
        </p:txBody>
      </p:sp>
      <p:sp>
        <p:nvSpPr>
          <p:cNvPr id="4" name="LeftCaption">
            <a:extLst>
              <a:ext uri="{FF2B5EF4-FFF2-40B4-BE49-F238E27FC236}">
                <a16:creationId xmlns:a16="http://schemas.microsoft.com/office/drawing/2014/main" id="{460D7F4A-AA8B-4874-923A-F734908CF7A6}"/>
              </a:ext>
            </a:extLst>
          </p:cNvPr>
          <p:cNvSpPr txBox="1"/>
          <p:nvPr/>
        </p:nvSpPr>
        <p:spPr>
          <a:xfrm>
            <a:off x="457200" y="3631720"/>
            <a:ext cx="43307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00" i="1">
                <a:solidFill>
                  <a:srgbClr val="333333"/>
                </a:solidFill>
              </a:rPr>
              <a:t>Figure. DD-CAM pipeline: starting from all </a:t>
            </a:r>
            <a:r>
              <a:rPr lang="en-US" sz="1000" i="1">
                <a:solidFill>
                  <a:srgbClr val="333333"/>
                </a:solidFill>
                <a:latin typeface="+mn-lt"/>
              </a:rPr>
              <a:t>K</a:t>
            </a:r>
            <a:r>
              <a:rPr lang="en-US" sz="1000" i="1">
                <a:solidFill>
                  <a:srgbClr val="333333"/>
                </a:solidFill>
              </a:rPr>
              <a:t> feature maps, delta debugging searches for a 1-minimal subset whose activation alone preserves the predicted class; the weighted sum of the preserved maps gives the heatmap.</a:t>
            </a:r>
          </a:p>
        </p:txBody>
      </p:sp>
    </p:spTree>
    <p:extLst>
      <p:ext uri="{BB962C8B-B14F-4D97-AF65-F5344CB8AC3E}">
        <p14:creationId xmlns:p14="http://schemas.microsoft.com/office/powerpoint/2010/main" val="20714982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7A5D-9BB8-1C1B-0C24-70F5D6EA0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Setup </a:t>
            </a:r>
            <a:r>
              <a:rPr lang="en-US" baseline="30000"/>
              <a:t>[3]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4C4C092-0019-02C0-648C-642AA36A8C75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378476" y="958417"/>
            <a:ext cx="8308323" cy="12242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sz="1400" b="1">
                <a:latin typeface="+mn-lt"/>
                <a:cs typeface="Arial"/>
              </a:rPr>
              <a:t>Research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/>
              <a:t>RQ1 — Faithfulness:</a:t>
            </a:r>
            <a:r>
              <a:rPr lang="en-US" sz="1200"/>
              <a:t> Do the saliency maps reflect the model’s decisions, and how does our method compare to state-of-the-art CAM across architectures?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/>
              <a:t>RQ2 — Localization:</a:t>
            </a:r>
            <a:r>
              <a:rPr lang="en-US" sz="1200"/>
              <a:t> Do the saliency maps align with human-annotated regions, and how does our method compare to state-of-the-art localization accuracy?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00DE1-34CC-36D9-6920-2BE8F50D98F8}"/>
              </a:ext>
            </a:extLst>
          </p:cNvPr>
          <p:cNvSpPr txBox="1"/>
          <p:nvPr/>
        </p:nvSpPr>
        <p:spPr>
          <a:xfrm>
            <a:off x="291947" y="2201923"/>
            <a:ext cx="4742761" cy="2089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/>
              <a:t>Datasets: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ImageNet (2000 validation images, class-balanced),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ChestX-ray14 (1000 radiologist-annotated)</a:t>
            </a:r>
          </a:p>
          <a:p>
            <a:pPr>
              <a:lnSpc>
                <a:spcPct val="150000"/>
              </a:lnSpc>
            </a:pPr>
            <a:r>
              <a:rPr lang="en-US" sz="1400" b="1"/>
              <a:t>Architecture: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CNN Linear Heads: ResNet-50, EfficientNet-B0, Inception-v3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CNN Non-Linear Heads: VGG-11, VGG-16, VGG-19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Vision Transformers: </a:t>
            </a:r>
            <a:r>
              <a:rPr lang="en-US" sz="1200" err="1"/>
              <a:t>ViT</a:t>
            </a:r>
            <a:r>
              <a:rPr lang="en-US" sz="1200"/>
              <a:t>-B/16, </a:t>
            </a:r>
            <a:r>
              <a:rPr lang="en-US" sz="1200" err="1"/>
              <a:t>ViT</a:t>
            </a:r>
            <a:r>
              <a:rPr lang="en-US" sz="1200"/>
              <a:t>-L/16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EA9DA-31E5-2ABC-F438-05D474F7E08F}"/>
              </a:ext>
            </a:extLst>
          </p:cNvPr>
          <p:cNvSpPr txBox="1"/>
          <p:nvPr/>
        </p:nvSpPr>
        <p:spPr>
          <a:xfrm>
            <a:off x="4873127" y="2201923"/>
            <a:ext cx="4171721" cy="2366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/>
              <a:t>Metrics: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RQ1: </a:t>
            </a:r>
            <a:r>
              <a:rPr lang="en-US" sz="1200"/>
              <a:t>Average Drop ↓, Coherency ↑, Complexity ↓, Average DCC ↑, Increase in Confidence ↑, Drop in Deletion ↑, Time ↓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 </a:t>
            </a:r>
            <a:r>
              <a:rPr lang="en-US" sz="1200" b="1"/>
              <a:t>RQ2: </a:t>
            </a:r>
            <a:r>
              <a:rPr lang="en-US" sz="1200" err="1"/>
              <a:t>IoU</a:t>
            </a:r>
            <a:r>
              <a:rPr lang="en-US" sz="1200"/>
              <a:t> ↑, Precision ↑,  Recall ↑,  Regions ↓</a:t>
            </a:r>
            <a:endParaRPr lang="en-US" sz="1200" b="1"/>
          </a:p>
          <a:p>
            <a:pPr>
              <a:lnSpc>
                <a:spcPct val="150000"/>
              </a:lnSpc>
            </a:pPr>
            <a:r>
              <a:rPr lang="en-US" sz="1400" b="1"/>
              <a:t>Baselines: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Grad-CAM, Grad-CAM++, Score-CAM, Ablation-CAM, </a:t>
            </a:r>
            <a:r>
              <a:rPr lang="en-US" sz="1200" err="1"/>
              <a:t>LayerCAM</a:t>
            </a:r>
            <a:r>
              <a:rPr lang="en-US" sz="1200"/>
              <a:t>, </a:t>
            </a:r>
            <a:r>
              <a:rPr lang="en-US" sz="1200" err="1"/>
              <a:t>XGradCAM</a:t>
            </a:r>
            <a:r>
              <a:rPr lang="en-US" sz="1200"/>
              <a:t>, </a:t>
            </a:r>
            <a:r>
              <a:rPr lang="en-US" sz="1200" err="1"/>
              <a:t>Reprico</a:t>
            </a:r>
            <a:r>
              <a:rPr lang="en-US" sz="1200"/>
              <a:t>-CAM</a:t>
            </a:r>
          </a:p>
        </p:txBody>
      </p:sp>
    </p:spTree>
    <p:extLst>
      <p:ext uri="{BB962C8B-B14F-4D97-AF65-F5344CB8AC3E}">
        <p14:creationId xmlns:p14="http://schemas.microsoft.com/office/powerpoint/2010/main" val="3436210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8736-9EC6-23D9-93DC-1678A1E0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Faithfulness Results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31012C3-134A-260E-8680-AF500FC2CE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76" y="1133667"/>
            <a:ext cx="4248024" cy="26904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F52441-03BE-F10A-462B-815F4BD53CA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2092" y="1084255"/>
            <a:ext cx="4329544" cy="2916428"/>
          </a:xfrm>
          <a:prstGeom prst="rect">
            <a:avLst/>
          </a:prstGeom>
        </p:spPr>
      </p:pic>
      <p:sp>
        <p:nvSpPr>
          <p:cNvPr id="3" name="Summary">
            <a:extLst>
              <a:ext uri="{FF2B5EF4-FFF2-40B4-BE49-F238E27FC236}">
                <a16:creationId xmlns:a16="http://schemas.microsoft.com/office/drawing/2014/main" id="{49AC0FFA-CEC6-4278-B826-82D0FE825D49}"/>
              </a:ext>
            </a:extLst>
          </p:cNvPr>
          <p:cNvSpPr txBox="1"/>
          <p:nvPr/>
        </p:nvSpPr>
        <p:spPr>
          <a:xfrm>
            <a:off x="2122098" y="3993539"/>
            <a:ext cx="5684807" cy="34409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i="1">
                <a:solidFill>
                  <a:srgbClr val="333333"/>
                </a:solidFill>
              </a:rPr>
              <a:t>Figure. DD-CAM ranks first in 15 of 18 evaluation cells (6 metrics × 3 architecture families). </a:t>
            </a:r>
            <a:r>
              <a:rPr lang="en-US" sz="1000" i="1" baseline="30000">
                <a:solidFill>
                  <a:srgbClr val="333333"/>
                </a:solidFill>
              </a:rPr>
              <a:t>[3]</a:t>
            </a:r>
            <a:r>
              <a:rPr lang="en-US" sz="1000" i="1">
                <a:solidFill>
                  <a:srgbClr val="33333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7518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A658-B8CE-A886-4B7F-117D9D9C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Visualizations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EFA177-7C6A-E824-1096-C83FB72B26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26335"/>
            <a:ext cx="9115316" cy="13504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30847A-501A-64B2-436C-1DA8EBBF7BEC}"/>
              </a:ext>
            </a:extLst>
          </p:cNvPr>
          <p:cNvSpPr txBox="1"/>
          <p:nvPr/>
        </p:nvSpPr>
        <p:spPr>
          <a:xfrm>
            <a:off x="2032607" y="4017165"/>
            <a:ext cx="5429693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i="1">
                <a:solidFill>
                  <a:srgbClr val="333333"/>
                </a:solidFill>
              </a:rPr>
              <a:t>Figure. DD-CAM produces less complex, less noisy saliency maps on ImageNet samples. </a:t>
            </a:r>
            <a:r>
              <a:rPr lang="en-US" sz="1000" i="1" baseline="30000">
                <a:solidFill>
                  <a:srgbClr val="333333"/>
                </a:solidFill>
              </a:rPr>
              <a:t>[3]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FE0593-CABA-E42F-D5A3-DC70C34177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1519"/>
            <a:ext cx="9144000" cy="135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71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179A-7061-BB90-C72C-368E49262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Localization 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DC6798-ED70-D5C0-FA8B-477FC0D974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9519" y="1022350"/>
            <a:ext cx="4282410" cy="3098800"/>
          </a:xfrm>
          <a:prstGeom prst="rect">
            <a:avLst/>
          </a:prstGeom>
        </p:spPr>
      </p:pic>
      <p:sp>
        <p:nvSpPr>
          <p:cNvPr id="3" name="Takeaway">
            <a:extLst>
              <a:ext uri="{FF2B5EF4-FFF2-40B4-BE49-F238E27FC236}">
                <a16:creationId xmlns:a16="http://schemas.microsoft.com/office/drawing/2014/main" id="{F1D35DD9-699F-4091-A10C-A4D82A806621}"/>
              </a:ext>
            </a:extLst>
          </p:cNvPr>
          <p:cNvSpPr txBox="1"/>
          <p:nvPr/>
        </p:nvSpPr>
        <p:spPr>
          <a:xfrm>
            <a:off x="741871" y="4121150"/>
            <a:ext cx="82296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i="1">
                <a:solidFill>
                  <a:srgbClr val="333333"/>
                </a:solidFill>
              </a:rPr>
              <a:t>Figure. DD-CAM achieves a 45% improvement over the next-best </a:t>
            </a:r>
            <a:r>
              <a:rPr lang="en-US" sz="1000" i="1" err="1">
                <a:solidFill>
                  <a:srgbClr val="333333"/>
                </a:solidFill>
              </a:rPr>
              <a:t>Recipro</a:t>
            </a:r>
            <a:r>
              <a:rPr lang="en-US" sz="1000" i="1">
                <a:solidFill>
                  <a:srgbClr val="333333"/>
                </a:solidFill>
              </a:rPr>
              <a:t>-CAM on radiologist-annotated regions. </a:t>
            </a:r>
            <a:r>
              <a:rPr lang="en-US" sz="1000" i="1" baseline="30000">
                <a:solidFill>
                  <a:srgbClr val="333333"/>
                </a:solidFill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2374569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68EC8-1CD5-3301-72BF-0CFD283B3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B584C2-6CDF-9B5A-878D-BAED545897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71064"/>
            <a:ext cx="9144010" cy="1053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3F2B7E-6653-E18A-C60C-6611FCC325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2859438"/>
            <a:ext cx="9144000" cy="1053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4D0F96-74C8-A025-BC23-33F5BE2153AE}"/>
              </a:ext>
            </a:extLst>
          </p:cNvPr>
          <p:cNvSpPr txBox="1"/>
          <p:nvPr/>
        </p:nvSpPr>
        <p:spPr>
          <a:xfrm>
            <a:off x="2659528" y="3997740"/>
            <a:ext cx="4365298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i="1">
                <a:solidFill>
                  <a:srgbClr val="333333"/>
                </a:solidFill>
              </a:rPr>
              <a:t>Figure. DD-CAM lands inside the bounding box; baselines drift outside. </a:t>
            </a:r>
            <a:r>
              <a:rPr lang="en-US" sz="1000" i="1" baseline="30000">
                <a:solidFill>
                  <a:srgbClr val="333333"/>
                </a:solidFill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2309214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4306-4941-F1E4-9D8B-B789BCE1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Extensions for Final Resubmission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A524A-F1A5-D328-F379-62D5353AD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2849879"/>
          </a:xfrm>
        </p:spPr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Expand baselines beyond CAM families: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Integrated Gradients </a:t>
            </a:r>
            <a:r>
              <a:rPr lang="en-US" sz="1400" baseline="30000"/>
              <a:t>[19]</a:t>
            </a:r>
            <a:r>
              <a:rPr lang="en-US" sz="1400"/>
              <a:t>, RISE </a:t>
            </a:r>
            <a:r>
              <a:rPr lang="en-US" sz="1400" baseline="30000"/>
              <a:t>[18]</a:t>
            </a:r>
            <a:r>
              <a:rPr lang="en-US" sz="1400"/>
              <a:t>, SHAP </a:t>
            </a:r>
            <a:r>
              <a:rPr lang="en-US" sz="1400" baseline="30000"/>
              <a:t>[5]</a:t>
            </a:r>
            <a:r>
              <a:rPr lang="en-US" sz="1400"/>
              <a:t>, LIME </a:t>
            </a:r>
            <a:r>
              <a:rPr lang="en-US" sz="1400" baseline="30000"/>
              <a:t>[6]</a:t>
            </a:r>
            <a:r>
              <a:rPr lang="en-US" sz="1400"/>
              <a:t>, Extremal Perturbations </a:t>
            </a:r>
            <a:r>
              <a:rPr lang="en-US" sz="1400" baseline="30000"/>
              <a:t>[20]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Stability analysis of 1-minimal set.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/>
              <a:t>Can we prove something about the models internal working mechanism with help of DD-CAM?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err="1"/>
              <a:t>ViT</a:t>
            </a:r>
            <a:r>
              <a:rPr lang="en-US"/>
              <a:t> Masking Ablation by replacing zero masking with −∞ attention masking.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75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36C9-3C99-FA85-2289-AFF372319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87055BC8-B8A9-25A2-63CF-6C66C9F0D3E5}"/>
              </a:ext>
            </a:extLst>
          </p:cNvPr>
          <p:cNvSpPr txBox="1">
            <a:spLocks/>
          </p:cNvSpPr>
          <p:nvPr/>
        </p:nvSpPr>
        <p:spPr>
          <a:xfrm>
            <a:off x="0" y="1714497"/>
            <a:ext cx="9254169" cy="857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/>
              <a:t>Explanation-Guided Model Repair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00F1F353-5792-76A8-A0D9-9B9A3F599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284" y="605666"/>
            <a:ext cx="8229600" cy="857253"/>
          </a:xfrm>
        </p:spPr>
        <p:txBody>
          <a:bodyPr>
            <a:noAutofit/>
          </a:bodyPr>
          <a:lstStyle/>
          <a:p>
            <a:r>
              <a:rPr lang="en-US" sz="4000"/>
              <a:t>EGMR: Repairing Models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4E862-D836-3B0D-AA87-AF554B854871}"/>
              </a:ext>
            </a:extLst>
          </p:cNvPr>
          <p:cNvSpPr txBox="1"/>
          <p:nvPr/>
        </p:nvSpPr>
        <p:spPr>
          <a:xfrm>
            <a:off x="3296493" y="3471833"/>
            <a:ext cx="2551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Targeting AAAI 2027</a:t>
            </a:r>
          </a:p>
        </p:txBody>
      </p:sp>
    </p:spTree>
    <p:extLst>
      <p:ext uri="{BB962C8B-B14F-4D97-AF65-F5344CB8AC3E}">
        <p14:creationId xmlns:p14="http://schemas.microsoft.com/office/powerpoint/2010/main" val="12338254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55D10-F6A0-0AC1-3EC3-CC05E5FC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C34A04-D4EF-A442-84E3-49D486AEEA35}"/>
              </a:ext>
            </a:extLst>
          </p:cNvPr>
          <p:cNvSpPr txBox="1"/>
          <p:nvPr/>
        </p:nvSpPr>
        <p:spPr>
          <a:xfrm>
            <a:off x="457200" y="241300"/>
            <a:ext cx="822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1F1F1F"/>
                </a:solidFill>
              </a:rPr>
              <a:t>Why Waterbirds Is Hard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AD292-90A9-2346-9490-04EBFD40FE9B}"/>
              </a:ext>
            </a:extLst>
          </p:cNvPr>
          <p:cNvSpPr txBox="1"/>
          <p:nvPr/>
        </p:nvSpPr>
        <p:spPr>
          <a:xfrm>
            <a:off x="457200" y="8382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F5F5F"/>
                </a:solidFill>
              </a:rPr>
              <a:t>Class imbalance pushes the model onto a background shortcut, and the minority pays for 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A75E5-4077-4249-B2D3-F2BD34097F50}"/>
              </a:ext>
            </a:extLst>
          </p:cNvPr>
          <p:cNvSpPr txBox="1"/>
          <p:nvPr/>
        </p:nvSpPr>
        <p:spPr>
          <a:xfrm>
            <a:off x="457200" y="1371600"/>
            <a:ext cx="4064000" cy="298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1800"/>
              </a:lnSpc>
              <a:spcAft>
                <a:spcPts val="700"/>
              </a:spcAft>
              <a:buFont typeface="Arial"/>
              <a:buAutoNum type="arabicPeriod"/>
            </a:pPr>
            <a:r>
              <a:rPr lang="en-US" sz="1500" b="1">
                <a:solidFill>
                  <a:srgbClr val="1F1F1F"/>
                </a:solidFill>
              </a:rPr>
              <a:t>The training set is unbalanced. </a:t>
            </a:r>
            <a:r>
              <a:rPr lang="en-US" sz="1400">
                <a:solidFill>
                  <a:srgbClr val="1F1F1F"/>
                </a:solidFill>
              </a:rPr>
              <a:t>Most waterbirds appear over water and most landbirds over land; the off-context groups are heavily under-represented.</a:t>
            </a:r>
          </a:p>
          <a:p>
            <a:pPr marL="228600" indent="-228600">
              <a:lnSpc>
                <a:spcPts val="1800"/>
              </a:lnSpc>
              <a:spcAft>
                <a:spcPts val="700"/>
              </a:spcAft>
              <a:buFont typeface="Arial"/>
              <a:buAutoNum type="arabicPeriod"/>
            </a:pPr>
            <a:r>
              <a:rPr lang="en-US" sz="1500" b="1">
                <a:solidFill>
                  <a:srgbClr val="1F1F1F"/>
                </a:solidFill>
              </a:rPr>
              <a:t>The model takes the shortcut. </a:t>
            </a:r>
            <a:r>
              <a:rPr lang="en-US" sz="1400">
                <a:solidFill>
                  <a:srgbClr val="1F1F1F"/>
                </a:solidFill>
              </a:rPr>
              <a:t>ERM exploits the strong background-to-class correlation instead of bird features.</a:t>
            </a:r>
          </a:p>
          <a:p>
            <a:pPr marL="228600" indent="-228600">
              <a:lnSpc>
                <a:spcPts val="1800"/>
              </a:lnSpc>
              <a:buFont typeface="Arial"/>
              <a:buAutoNum type="arabicPeriod"/>
            </a:pPr>
            <a:r>
              <a:rPr lang="en-US" sz="1500" b="1">
                <a:solidFill>
                  <a:srgbClr val="1F1F1F"/>
                </a:solidFill>
              </a:rPr>
              <a:t>Worst-group accuracy collapses. </a:t>
            </a:r>
            <a:r>
              <a:rPr lang="en-US" sz="1400">
                <a:solidFill>
                  <a:srgbClr val="1F1F1F"/>
                </a:solidFill>
              </a:rPr>
              <a:t>Average looks fine; minority subgroups fail systematically (right).</a:t>
            </a:r>
            <a:endParaRPr lang="en-US" sz="1500">
              <a:solidFill>
                <a:srgbClr val="1F1F1F"/>
              </a:solidFill>
            </a:endParaRPr>
          </a:p>
        </p:txBody>
      </p:sp>
      <p:pic>
        <p:nvPicPr>
          <p:cNvPr id="11" name="Copied Picture 11" descr="/home/claude/wb_accuracy.png">
            <a:extLst>
              <a:ext uri="{FF2B5EF4-FFF2-40B4-BE49-F238E27FC236}">
                <a16:creationId xmlns:a16="http://schemas.microsoft.com/office/drawing/2014/main" id="{0A4113FE-120B-65FD-AEA4-8128AC392A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800" y="1371600"/>
            <a:ext cx="3810000" cy="1993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5747C-3D65-C44C-AC57-E0DFFED3FBE8}"/>
              </a:ext>
            </a:extLst>
          </p:cNvPr>
          <p:cNvSpPr txBox="1"/>
          <p:nvPr/>
        </p:nvSpPr>
        <p:spPr>
          <a:xfrm>
            <a:off x="4749800" y="34036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555555"/>
                </a:solidFill>
              </a:rPr>
              <a:t>Figure. ERM accuracy by group on Waterbirds: 99.6% majority vs 72.6% worst group, a 27-point gap.</a:t>
            </a:r>
          </a:p>
        </p:txBody>
      </p:sp>
    </p:spTree>
    <p:extLst>
      <p:ext uri="{BB962C8B-B14F-4D97-AF65-F5344CB8AC3E}">
        <p14:creationId xmlns:p14="http://schemas.microsoft.com/office/powerpoint/2010/main" val="1548250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55D10-F6A0-0AC1-3EC3-CC05E5FC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4C5474-2168-CD4C-8719-1B9BF2399E9E}"/>
              </a:ext>
            </a:extLst>
          </p:cNvPr>
          <p:cNvSpPr txBox="1"/>
          <p:nvPr/>
        </p:nvSpPr>
        <p:spPr>
          <a:xfrm>
            <a:off x="457200" y="241300"/>
            <a:ext cx="822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1F1F1F"/>
                </a:solidFill>
              </a:rPr>
              <a:t>How the Failure Looks Inside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EF410-3D16-6541-A315-58AE9439092F}"/>
              </a:ext>
            </a:extLst>
          </p:cNvPr>
          <p:cNvSpPr txBox="1"/>
          <p:nvPr/>
        </p:nvSpPr>
        <p:spPr>
          <a:xfrm>
            <a:off x="457200" y="8382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F5F5F"/>
                </a:solidFill>
              </a:rPr>
              <a:t>Saliency on a misprediction shows the model attending to background, not bird.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ED64F1-8C80-3B0B-6578-02BF252EC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253" y="1259515"/>
            <a:ext cx="5090337" cy="2827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794521-31AD-7A4A-BCA3-5BD47843495F}"/>
              </a:ext>
            </a:extLst>
          </p:cNvPr>
          <p:cNvSpPr txBox="1"/>
          <p:nvPr/>
        </p:nvSpPr>
        <p:spPr>
          <a:xfrm>
            <a:off x="1397000" y="4140200"/>
            <a:ext cx="609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200" i="1">
                <a:solidFill>
                  <a:srgbClr val="5F5F5F"/>
                </a:solidFill>
              </a:rPr>
              <a:t>Figure. Post-hoc explanations (e.g., </a:t>
            </a:r>
            <a:r>
              <a:rPr lang="en-US" sz="1200" i="1" err="1">
                <a:solidFill>
                  <a:srgbClr val="5F5F5F"/>
                </a:solidFill>
              </a:rPr>
              <a:t>GradCAM</a:t>
            </a:r>
            <a:r>
              <a:rPr lang="en-US" sz="1200" i="1" baseline="30000">
                <a:solidFill>
                  <a:srgbClr val="5F5F5F"/>
                </a:solidFill>
              </a:rPr>
              <a:t>[21]</a:t>
            </a:r>
            <a:r>
              <a:rPr lang="en-US" sz="1200" i="1">
                <a:solidFill>
                  <a:srgbClr val="5F5F5F"/>
                </a:solidFill>
              </a:rPr>
              <a:t>) highlight surrounding water instead of the bird, exposing reliance on background shortcuts.</a:t>
            </a:r>
          </a:p>
        </p:txBody>
      </p:sp>
    </p:spTree>
    <p:extLst>
      <p:ext uri="{BB962C8B-B14F-4D97-AF65-F5344CB8AC3E}">
        <p14:creationId xmlns:p14="http://schemas.microsoft.com/office/powerpoint/2010/main" val="10317651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55D10-F6A0-0AC1-3EC3-CC05E5FC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A26412-97EF-F94E-972D-E703ACA4E2DF}"/>
              </a:ext>
            </a:extLst>
          </p:cNvPr>
          <p:cNvSpPr txBox="1"/>
          <p:nvPr/>
        </p:nvSpPr>
        <p:spPr>
          <a:xfrm>
            <a:off x="457200" y="241300"/>
            <a:ext cx="822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1F1F1F"/>
                </a:solidFill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C7914-EDB0-5249-80DE-CFA447C9DEAC}"/>
              </a:ext>
            </a:extLst>
          </p:cNvPr>
          <p:cNvSpPr txBox="1"/>
          <p:nvPr/>
        </p:nvSpPr>
        <p:spPr>
          <a:xfrm>
            <a:off x="457200" y="8382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F5F5F"/>
                </a:solidFill>
              </a:rPr>
              <a:t>Repair a classifier that takes shortcuts, without group labels, without retraining from scratch.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22B29-12A6-B54D-A79F-119085A2EF75}"/>
              </a:ext>
            </a:extLst>
          </p:cNvPr>
          <p:cNvSpPr txBox="1"/>
          <p:nvPr/>
        </p:nvSpPr>
        <p:spPr>
          <a:xfrm>
            <a:off x="457200" y="12065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/>
              <a:t>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F6A8D3-4022-844B-81B9-96A98277F940}"/>
              </a:ext>
            </a:extLst>
          </p:cNvPr>
          <p:cNvSpPr txBox="1"/>
          <p:nvPr/>
        </p:nvSpPr>
        <p:spPr>
          <a:xfrm>
            <a:off x="457200" y="1549400"/>
            <a:ext cx="469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7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F1F1F"/>
                </a:solidFill>
              </a:rPr>
              <a:t>Trained classifier with low worst-group accuracy</a:t>
            </a:r>
          </a:p>
          <a:p>
            <a:pPr marL="171450" indent="-171450">
              <a:lnSpc>
                <a:spcPts val="17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F1F1F"/>
                </a:solidFill>
              </a:rPr>
              <a:t>Validation set with mispredictions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DF5C48-9AA1-7F44-B97F-0D3BFD36748C}"/>
              </a:ext>
            </a:extLst>
          </p:cNvPr>
          <p:cNvSpPr txBox="1"/>
          <p:nvPr/>
        </p:nvSpPr>
        <p:spPr>
          <a:xfrm>
            <a:off x="457200" y="23876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/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39127-6A0A-1645-A317-41730F6F4676}"/>
              </a:ext>
            </a:extLst>
          </p:cNvPr>
          <p:cNvSpPr txBox="1"/>
          <p:nvPr/>
        </p:nvSpPr>
        <p:spPr>
          <a:xfrm>
            <a:off x="457200" y="27305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7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F1F1F"/>
                </a:solidFill>
              </a:rPr>
              <a:t>Updated classifier with reduced shortcut reliance and higher worst-group accuracy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51174D-56A6-4E4E-BFBC-827DEC6DF486}"/>
              </a:ext>
            </a:extLst>
          </p:cNvPr>
          <p:cNvSpPr txBox="1"/>
          <p:nvPr/>
        </p:nvSpPr>
        <p:spPr>
          <a:xfrm>
            <a:off x="457200" y="3492500"/>
            <a:ext cx="822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/>
              <a:t>Research Question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0901C-D797-4B4C-8868-DFF8BC6F8A8C}"/>
              </a:ext>
            </a:extLst>
          </p:cNvPr>
          <p:cNvSpPr txBox="1"/>
          <p:nvPr/>
        </p:nvSpPr>
        <p:spPr>
          <a:xfrm>
            <a:off x="457200" y="3835400"/>
            <a:ext cx="4634573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400">
                <a:solidFill>
                  <a:srgbClr val="1F1F1F"/>
                </a:solidFill>
              </a:rPr>
              <a:t>Can explanations on mispredictions identify where to generate targeted synthetic data that repairs the model?</a:t>
            </a:r>
          </a:p>
        </p:txBody>
      </p:sp>
      <p:sp>
        <p:nvSpPr>
          <p:cNvPr id="3" name="FigureCaption">
            <a:extLst>
              <a:ext uri="{FF2B5EF4-FFF2-40B4-BE49-F238E27FC236}">
                <a16:creationId xmlns:a16="http://schemas.microsoft.com/office/drawing/2014/main" id="{36664D72-EE7C-4925-ADFE-2D991690BF7B}"/>
              </a:ext>
            </a:extLst>
          </p:cNvPr>
          <p:cNvSpPr txBox="1"/>
          <p:nvPr/>
        </p:nvSpPr>
        <p:spPr>
          <a:xfrm>
            <a:off x="5322057" y="3814878"/>
            <a:ext cx="3556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100" i="1" dirty="0">
                <a:solidFill>
                  <a:srgbClr val="5F5F5F"/>
                </a:solidFill>
              </a:rPr>
              <a:t>Figure: Targeted EGMR edits move the decision boundary fixing minority-group errors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A0845-2C3F-D544-DB7B-09BAE0D397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915" y="1362243"/>
            <a:ext cx="3786284" cy="241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886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1343-EFF0-8CF9-A978-5BC10439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83047"/>
            <a:ext cx="8229600" cy="857250"/>
          </a:xfrm>
        </p:spPr>
        <p:txBody>
          <a:bodyPr/>
          <a:lstStyle/>
          <a:p>
            <a:r>
              <a:rPr lang="en-US"/>
              <a:t>Related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40DDF-AD09-9942-B966-8F17D9463E59}"/>
              </a:ext>
            </a:extLst>
          </p:cNvPr>
          <p:cNvSpPr txBox="1"/>
          <p:nvPr/>
        </p:nvSpPr>
        <p:spPr>
          <a:xfrm>
            <a:off x="446568" y="634503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5F5F5F"/>
                </a:solidFill>
              </a:rPr>
              <a:t>Prior approaches to Waterbirds-style shortcuts, and where EGMR differs.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0D058A-92F7-AC4C-8AD4-5886BAC18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866175"/>
              </p:ext>
            </p:extLst>
          </p:nvPr>
        </p:nvGraphicFramePr>
        <p:xfrm>
          <a:off x="457200" y="97155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95712322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822672518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59138800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Approach family</a:t>
                      </a:r>
                    </a:p>
                  </a:txBody>
                  <a:tcPr anchor="ctr"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Fix on Waterbirds</a:t>
                      </a:r>
                    </a:p>
                  </a:txBody>
                  <a:tcPr anchor="ctr"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Limitation EGMR addresses</a:t>
                      </a:r>
                    </a:p>
                  </a:txBody>
                  <a:tcPr anchor="ctr">
                    <a:solidFill>
                      <a:srgbClr val="0064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5951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Reweighting / GroupDRO </a:t>
                      </a:r>
                      <a:r>
                        <a:rPr lang="en-US" sz="1100" b="1" baseline="300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[22]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Up-weight minority groups in the loss; needs group labels.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No new minority examples; ceiling set by what little exists.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96044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Just Train Twice </a:t>
                      </a:r>
                      <a:r>
                        <a:rPr lang="en-US" sz="1100" b="1" baseline="300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[23]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Identify mis predictions without group labels; up-weight them and retrain.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Still resamples existing data; no new contexts.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26443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Generic augmentation
(CutMix, Mixup, crops)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Add invariance to random perturbations.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Context-blind; cannot target the water/forest shortcut.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06579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Interpretability-only
(TCAV, SpLiCE </a:t>
                      </a:r>
                      <a:r>
                        <a:rPr lang="en-US" sz="1100" b="1" baseline="300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[24]</a:t>
                      </a:r>
                      <a:r>
                        <a:rPr lang="en-US" sz="11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Surface that the model relies on background concepts.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Diagnoses the bug; does not repair it.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267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Generative augmentation
(full-image diffusion)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Synthesize new bird-on-context images globally.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Edits the whole image; can drift class identity.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7873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397294-A0F1-2E4C-8800-F800E3D24A4C}"/>
              </a:ext>
            </a:extLst>
          </p:cNvPr>
          <p:cNvSpPr txBox="1"/>
          <p:nvPr/>
        </p:nvSpPr>
        <p:spPr>
          <a:xfrm>
            <a:off x="180754" y="3772397"/>
            <a:ext cx="8963246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064B1"/>
                </a:solidFill>
              </a:rPr>
              <a:t>EGMR: </a:t>
            </a:r>
            <a:r>
              <a:rPr lang="en-US" sz="1300">
                <a:solidFill>
                  <a:srgbClr val="1F1F1F"/>
                </a:solidFill>
              </a:rPr>
              <a:t>explanation-guided </a:t>
            </a:r>
            <a:r>
              <a:rPr lang="en-US" sz="1300" b="1">
                <a:solidFill>
                  <a:srgbClr val="1F1F1F"/>
                </a:solidFill>
              </a:rPr>
              <a:t>local</a:t>
            </a:r>
            <a:r>
              <a:rPr lang="en-US" sz="1300">
                <a:solidFill>
                  <a:srgbClr val="1F1F1F"/>
                </a:solidFill>
              </a:rPr>
              <a:t> inpainting. Adds new minority contexts (vs. reweighting), </a:t>
            </a:r>
            <a:r>
              <a:rPr lang="en-US" sz="1300" b="1">
                <a:solidFill>
                  <a:srgbClr val="1F1F1F"/>
                </a:solidFill>
              </a:rPr>
              <a:t>targets</a:t>
            </a:r>
            <a:r>
              <a:rPr lang="en-US" sz="1300">
                <a:solidFill>
                  <a:srgbClr val="1F1F1F"/>
                </a:solidFill>
              </a:rPr>
              <a:t> the shortcut concept (vs. random augmentation), preserves the bird (vs. full-image gen), and acts on the diagnosis (vs. interpretability alone).</a:t>
            </a:r>
          </a:p>
        </p:txBody>
      </p:sp>
    </p:spTree>
    <p:extLst>
      <p:ext uri="{BB962C8B-B14F-4D97-AF65-F5344CB8AC3E}">
        <p14:creationId xmlns:p14="http://schemas.microsoft.com/office/powerpoint/2010/main" val="16006319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B325A038-82B0-979F-B50A-EB4F32DA2658}"/>
              </a:ext>
            </a:extLst>
          </p:cNvPr>
          <p:cNvSpPr/>
          <p:nvPr/>
        </p:nvSpPr>
        <p:spPr>
          <a:xfrm>
            <a:off x="342900" y="20574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1A1A1A"/>
                </a:solidFill>
                <a:latin typeface="Arial" pitchFamily="34" charset="0"/>
              </a:rPr>
              <a:t>From Explanations to Repair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FD90535E-DEF2-F27F-F236-89829855388B}"/>
              </a:ext>
            </a:extLst>
          </p:cNvPr>
          <p:cNvSpPr/>
          <p:nvPr/>
        </p:nvSpPr>
        <p:spPr>
          <a:xfrm>
            <a:off x="3531870" y="685800"/>
            <a:ext cx="2057400" cy="0"/>
          </a:xfrm>
          <a:prstGeom prst="line">
            <a:avLst/>
          </a:prstGeom>
          <a:noFill/>
          <a:ln w="25400">
            <a:solidFill>
              <a:srgbClr val="F580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7" name="Image 0" descr="/home/claude/wb_training.png">
            <a:extLst>
              <a:ext uri="{FF2B5EF4-FFF2-40B4-BE49-F238E27FC236}">
                <a16:creationId xmlns:a16="http://schemas.microsoft.com/office/drawing/2014/main" id="{0341BFF1-3165-0022-C257-40A4AC05FE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364" y="2423159"/>
            <a:ext cx="3090963" cy="1794752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A604A97C-4874-B6C3-AFA2-75FE00F920B4}"/>
              </a:ext>
            </a:extLst>
          </p:cNvPr>
          <p:cNvSpPr/>
          <p:nvPr/>
        </p:nvSpPr>
        <p:spPr>
          <a:xfrm>
            <a:off x="4288972" y="1165860"/>
            <a:ext cx="4593771" cy="267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7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1A1A1A"/>
                </a:solidFill>
              </a:rPr>
              <a:t>The gap is in the data distribution.</a:t>
            </a:r>
          </a:p>
          <a:p>
            <a:pPr marL="171450" indent="-171450">
              <a:lnSpc>
                <a:spcPts val="17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</a:rPr>
              <a:t>Reweighting 56 minority images cannot create diversity the model never saw.</a:t>
            </a:r>
          </a:p>
          <a:p>
            <a:pPr marL="171450" indent="-171450">
              <a:lnSpc>
                <a:spcPts val="17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1A1A1A"/>
                </a:solidFill>
              </a:rPr>
              <a:t>EGMR’s move: </a:t>
            </a:r>
            <a:r>
              <a:rPr lang="en-US" sz="1400">
                <a:solidFill>
                  <a:srgbClr val="1A1A1A"/>
                </a:solidFill>
              </a:rPr>
              <a:t>explanations give us </a:t>
            </a:r>
            <a:r>
              <a:rPr lang="en-US" sz="1400" b="1">
                <a:solidFill>
                  <a:srgbClr val="1A1A1A"/>
                </a:solidFill>
              </a:rPr>
              <a:t>where</a:t>
            </a:r>
            <a:r>
              <a:rPr lang="en-US" sz="1400">
                <a:solidFill>
                  <a:srgbClr val="1A1A1A"/>
                </a:solidFill>
              </a:rPr>
              <a:t> (mask) and </a:t>
            </a:r>
            <a:r>
              <a:rPr lang="en-US" sz="1400" b="1">
                <a:solidFill>
                  <a:srgbClr val="1A1A1A"/>
                </a:solidFill>
              </a:rPr>
              <a:t>what</a:t>
            </a:r>
            <a:r>
              <a:rPr lang="en-US" sz="1400">
                <a:solidFill>
                  <a:srgbClr val="1A1A1A"/>
                </a:solidFill>
              </a:rPr>
              <a:t> (concept) causes failure.</a:t>
            </a:r>
          </a:p>
          <a:p>
            <a:pPr marL="171450" indent="-171450">
              <a:lnSpc>
                <a:spcPts val="17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A1A1A"/>
                </a:solidFill>
              </a:rPr>
              <a:t>Diffusion fills the mask; fine-tune on the augmented set.</a:t>
            </a:r>
          </a:p>
          <a:p>
            <a:pPr marL="171450" indent="-171450">
              <a:lnSpc>
                <a:spcPts val="1700"/>
              </a:lnSpc>
              <a:buFont typeface="Arial"/>
              <a:buChar char="•"/>
            </a:pPr>
            <a:r>
              <a:rPr lang="en-US" sz="1400" b="1">
                <a:solidFill>
                  <a:srgbClr val="1A1A1A"/>
                </a:solidFill>
              </a:rPr>
              <a:t>Novelty: </a:t>
            </a:r>
            <a:r>
              <a:rPr lang="en-US" sz="1400">
                <a:solidFill>
                  <a:srgbClr val="1A1A1A"/>
                </a:solidFill>
              </a:rPr>
              <a:t>explanations choose what to vary and where to put the mask because random variations can hurt the existing predictions which can perturb essential features.</a:t>
            </a: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C7BE581-6FDF-F3A3-AE8A-5C959136814A}"/>
              </a:ext>
            </a:extLst>
          </p:cNvPr>
          <p:cNvSpPr/>
          <p:nvPr/>
        </p:nvSpPr>
        <p:spPr>
          <a:xfrm>
            <a:off x="171450" y="4834890"/>
            <a:ext cx="8229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</a:t>
            </a:r>
            <a:endParaRPr lang="en-US"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B821C-76B4-0022-65AD-DBC1879866B2}"/>
              </a:ext>
            </a:extLst>
          </p:cNvPr>
          <p:cNvSpPr txBox="1"/>
          <p:nvPr/>
        </p:nvSpPr>
        <p:spPr>
          <a:xfrm>
            <a:off x="941508" y="4167964"/>
            <a:ext cx="3254935" cy="41998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555555"/>
                </a:solidFill>
              </a:rPr>
              <a:t>Figure.  Waterbird dataset class imbalance </a:t>
            </a:r>
            <a:r>
              <a:rPr lang="en-US" sz="1100" i="1" baseline="30000">
                <a:solidFill>
                  <a:srgbClr val="555555"/>
                </a:solidFill>
              </a:rPr>
              <a:t>[23]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AC81D-8B08-0801-F760-37CD53C1C7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0298" y="794806"/>
            <a:ext cx="1884863" cy="151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39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99BEFF8-FC2C-E742-ABF0-C7E79FB918F2}"/>
              </a:ext>
            </a:extLst>
          </p:cNvPr>
          <p:cNvSpPr txBox="1"/>
          <p:nvPr/>
        </p:nvSpPr>
        <p:spPr>
          <a:xfrm>
            <a:off x="558800" y="0"/>
            <a:ext cx="822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1A1A1A"/>
                </a:solidFill>
              </a:rPr>
              <a:t>The EGMR Pipeline ( Work in Progress)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23955-3728-BE4C-9DD0-748B4E5485C5}"/>
              </a:ext>
            </a:extLst>
          </p:cNvPr>
          <p:cNvSpPr txBox="1"/>
          <p:nvPr/>
        </p:nvSpPr>
        <p:spPr>
          <a:xfrm>
            <a:off x="558800" y="5715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5F5F5F"/>
                </a:solidFill>
              </a:rPr>
              <a:t>Each row shows what flows through the pipeline. OUT of one stage is IN of the next.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2F71A-2A56-0E4A-9517-F6878CD962F4}"/>
              </a:ext>
            </a:extLst>
          </p:cNvPr>
          <p:cNvSpPr txBox="1"/>
          <p:nvPr/>
        </p:nvSpPr>
        <p:spPr>
          <a:xfrm>
            <a:off x="152400" y="1460500"/>
            <a:ext cx="5842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5F5F5F"/>
                </a:solidFill>
              </a:rPr>
              <a:t>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17638-B096-9F41-8104-4EB14CF954AB}"/>
              </a:ext>
            </a:extLst>
          </p:cNvPr>
          <p:cNvSpPr txBox="1"/>
          <p:nvPr/>
        </p:nvSpPr>
        <p:spPr>
          <a:xfrm>
            <a:off x="152400" y="2044700"/>
            <a:ext cx="584200" cy="91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5F5F5F"/>
                </a:solidFill>
              </a:rPr>
              <a:t>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91AE1F-AC0F-4D44-B8F8-F18B7BF9A2C5}"/>
              </a:ext>
            </a:extLst>
          </p:cNvPr>
          <p:cNvSpPr txBox="1"/>
          <p:nvPr/>
        </p:nvSpPr>
        <p:spPr>
          <a:xfrm>
            <a:off x="152400" y="3416300"/>
            <a:ext cx="5842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1F497D"/>
                </a:solidFill>
              </a:rPr>
              <a:t>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B1108F-ED02-4942-A3A9-929F3EA76825}"/>
              </a:ext>
            </a:extLst>
          </p:cNvPr>
          <p:cNvSpPr/>
          <p:nvPr/>
        </p:nvSpPr>
        <p:spPr>
          <a:xfrm>
            <a:off x="812800" y="1460500"/>
            <a:ext cx="2006600" cy="482600"/>
          </a:xfrm>
          <a:prstGeom prst="rect">
            <a:avLst/>
          </a:prstGeom>
          <a:solidFill>
            <a:srgbClr val="F5F6F8"/>
          </a:solidFill>
          <a:ln w="9525" cap="flat" cmpd="sng" algn="ctr">
            <a:solidFill>
              <a:srgbClr val="DDE1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43D6D-ADB9-5148-BCD2-745683B70755}"/>
              </a:ext>
            </a:extLst>
          </p:cNvPr>
          <p:cNvSpPr txBox="1"/>
          <p:nvPr/>
        </p:nvSpPr>
        <p:spPr>
          <a:xfrm>
            <a:off x="914400" y="1511300"/>
            <a:ext cx="1803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>
                <a:solidFill>
                  <a:srgbClr val="1A1A1A"/>
                </a:solidFill>
              </a:rPr>
              <a:t>Training images.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24457A-1821-F846-965C-0609268E6F1A}"/>
              </a:ext>
            </a:extLst>
          </p:cNvPr>
          <p:cNvSpPr/>
          <p:nvPr/>
        </p:nvSpPr>
        <p:spPr>
          <a:xfrm>
            <a:off x="2870200" y="1460500"/>
            <a:ext cx="2006600" cy="482600"/>
          </a:xfrm>
          <a:prstGeom prst="rect">
            <a:avLst/>
          </a:prstGeom>
          <a:solidFill>
            <a:srgbClr val="F5F6F8"/>
          </a:solidFill>
          <a:ln w="9525" cap="flat" cmpd="sng" algn="ctr">
            <a:solidFill>
              <a:srgbClr val="DDE1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DB63AC-452C-334B-B9FC-2098557A6BA8}"/>
              </a:ext>
            </a:extLst>
          </p:cNvPr>
          <p:cNvSpPr txBox="1"/>
          <p:nvPr/>
        </p:nvSpPr>
        <p:spPr>
          <a:xfrm>
            <a:off x="2971800" y="1511300"/>
            <a:ext cx="1803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>
                <a:solidFill>
                  <a:srgbClr val="1A1A1A"/>
                </a:solidFill>
              </a:rPr>
              <a:t>Concept bank.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313FC2-5AA7-F946-859B-973E7A85A235}"/>
              </a:ext>
            </a:extLst>
          </p:cNvPr>
          <p:cNvSpPr/>
          <p:nvPr/>
        </p:nvSpPr>
        <p:spPr>
          <a:xfrm>
            <a:off x="4927600" y="1460500"/>
            <a:ext cx="2006600" cy="482600"/>
          </a:xfrm>
          <a:prstGeom prst="rect">
            <a:avLst/>
          </a:prstGeom>
          <a:solidFill>
            <a:srgbClr val="F5F6F8"/>
          </a:solidFill>
          <a:ln w="9525" cap="flat" cmpd="sng" algn="ctr">
            <a:solidFill>
              <a:srgbClr val="DDE1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99BAD8-DE17-0940-A84D-A4FA38D9EA53}"/>
              </a:ext>
            </a:extLst>
          </p:cNvPr>
          <p:cNvSpPr txBox="1"/>
          <p:nvPr/>
        </p:nvSpPr>
        <p:spPr>
          <a:xfrm>
            <a:off x="5029200" y="1511300"/>
            <a:ext cx="1803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>
                <a:solidFill>
                  <a:srgbClr val="1A1A1A"/>
                </a:solidFill>
              </a:rPr>
              <a:t>Suspect concept + misclassified images.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77E4C2-38B8-9F41-9289-268179676984}"/>
              </a:ext>
            </a:extLst>
          </p:cNvPr>
          <p:cNvSpPr/>
          <p:nvPr/>
        </p:nvSpPr>
        <p:spPr>
          <a:xfrm>
            <a:off x="6985000" y="1460500"/>
            <a:ext cx="2006600" cy="482600"/>
          </a:xfrm>
          <a:prstGeom prst="rect">
            <a:avLst/>
          </a:prstGeom>
          <a:solidFill>
            <a:srgbClr val="F5F6F8"/>
          </a:solidFill>
          <a:ln w="9525" cap="flat" cmpd="sng" algn="ctr">
            <a:solidFill>
              <a:srgbClr val="DDE1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ACD64E-FE98-7F4C-BE1A-EDE8B6BC8F20}"/>
              </a:ext>
            </a:extLst>
          </p:cNvPr>
          <p:cNvSpPr txBox="1"/>
          <p:nvPr/>
        </p:nvSpPr>
        <p:spPr>
          <a:xfrm>
            <a:off x="7086600" y="1511300"/>
            <a:ext cx="1803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>
                <a:solidFill>
                  <a:srgbClr val="1A1A1A"/>
                </a:solidFill>
              </a:rPr>
              <a:t>Images + masks.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7DDD6B-C06E-8248-9EEA-C2A43A4BEBFC}"/>
              </a:ext>
            </a:extLst>
          </p:cNvPr>
          <p:cNvSpPr/>
          <p:nvPr/>
        </p:nvSpPr>
        <p:spPr>
          <a:xfrm>
            <a:off x="812800" y="2044700"/>
            <a:ext cx="2006600" cy="1244600"/>
          </a:xfrm>
          <a:prstGeom prst="rect">
            <a:avLst/>
          </a:prstGeom>
          <a:solidFill>
            <a:srgbClr val="F5F6F8"/>
          </a:solidFill>
          <a:ln w="9525" cap="flat" cmpd="sng" algn="ctr">
            <a:solidFill>
              <a:srgbClr val="DDE1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CA33D4-1823-9C4C-8207-90EEE56DC48C}"/>
              </a:ext>
            </a:extLst>
          </p:cNvPr>
          <p:cNvSpPr txBox="1"/>
          <p:nvPr/>
        </p:nvSpPr>
        <p:spPr>
          <a:xfrm>
            <a:off x="914400" y="2095500"/>
            <a:ext cx="1803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>
                <a:solidFill>
                  <a:srgbClr val="1A1A1A"/>
                </a:solidFill>
              </a:rPr>
              <a:t>Run </a:t>
            </a:r>
            <a:r>
              <a:rPr lang="en-US" sz="1100" err="1">
                <a:solidFill>
                  <a:srgbClr val="1A1A1A"/>
                </a:solidFill>
              </a:rPr>
              <a:t>SpLiCE</a:t>
            </a:r>
            <a:r>
              <a:rPr lang="en-US" sz="1100">
                <a:solidFill>
                  <a:srgbClr val="1A1A1A"/>
                </a:solidFill>
              </a:rPr>
              <a:t> per image to get sparse interpretable concept decompositions.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5C3547-BA02-8E4F-8129-77B932A96E04}"/>
              </a:ext>
            </a:extLst>
          </p:cNvPr>
          <p:cNvSpPr/>
          <p:nvPr/>
        </p:nvSpPr>
        <p:spPr>
          <a:xfrm>
            <a:off x="2870200" y="2044700"/>
            <a:ext cx="2006600" cy="1244600"/>
          </a:xfrm>
          <a:prstGeom prst="rect">
            <a:avLst/>
          </a:prstGeom>
          <a:solidFill>
            <a:srgbClr val="F5F6F8"/>
          </a:solidFill>
          <a:ln w="9525" cap="flat" cmpd="sng" algn="ctr">
            <a:solidFill>
              <a:srgbClr val="DDE1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822590-11F8-3D42-AAF9-D27836FD31CA}"/>
              </a:ext>
            </a:extLst>
          </p:cNvPr>
          <p:cNvSpPr txBox="1"/>
          <p:nvPr/>
        </p:nvSpPr>
        <p:spPr>
          <a:xfrm>
            <a:off x="2971800" y="2095500"/>
            <a:ext cx="1803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100">
                <a:solidFill>
                  <a:srgbClr val="1A1A1A"/>
                </a:solidFill>
              </a:rPr>
              <a:t>Rank class-shared concepts by asymmetry A(v).</a:t>
            </a:r>
          </a:p>
          <a:p>
            <a:pPr>
              <a:lnSpc>
                <a:spcPts val="1250"/>
              </a:lnSpc>
              <a:buNone/>
            </a:pPr>
            <a:r>
              <a:rPr lang="en-US" sz="950" i="1">
                <a:solidFill>
                  <a:srgbClr val="5F5F5F"/>
                </a:solidFill>
              </a:rPr>
              <a:t>Partition keeps pelican/swan out; asymmetry keeps balanced concepts out.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1BE2A5-7D11-A441-81AE-FD8BA464EC03}"/>
              </a:ext>
            </a:extLst>
          </p:cNvPr>
          <p:cNvSpPr/>
          <p:nvPr/>
        </p:nvSpPr>
        <p:spPr>
          <a:xfrm>
            <a:off x="4927600" y="2044700"/>
            <a:ext cx="2006600" cy="1244600"/>
          </a:xfrm>
          <a:prstGeom prst="rect">
            <a:avLst/>
          </a:prstGeom>
          <a:solidFill>
            <a:srgbClr val="F5F6F8"/>
          </a:solidFill>
          <a:ln w="9525" cap="flat" cmpd="sng" algn="ctr">
            <a:solidFill>
              <a:srgbClr val="DDE1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2F11B3-1F01-F348-86D5-B3231754EC07}"/>
              </a:ext>
            </a:extLst>
          </p:cNvPr>
          <p:cNvSpPr txBox="1"/>
          <p:nvPr/>
        </p:nvSpPr>
        <p:spPr>
          <a:xfrm>
            <a:off x="5029200" y="2095500"/>
            <a:ext cx="1803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100">
                <a:solidFill>
                  <a:srgbClr val="1A1A1A"/>
                </a:solidFill>
              </a:rPr>
              <a:t>Difference saliency on misclassified images, kept only if recurrent.</a:t>
            </a:r>
          </a:p>
          <a:p>
            <a:pPr>
              <a:lnSpc>
                <a:spcPts val="1250"/>
              </a:lnSpc>
              <a:buNone/>
            </a:pPr>
            <a:r>
              <a:rPr lang="en-US" sz="950" i="1">
                <a:solidFill>
                  <a:srgbClr val="5F5F5F"/>
                </a:solidFill>
              </a:rPr>
              <a:t>Edit margin-driving regions, not one-off artifacts.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557EEE-A23B-AD41-9373-19D47E8DD942}"/>
              </a:ext>
            </a:extLst>
          </p:cNvPr>
          <p:cNvSpPr/>
          <p:nvPr/>
        </p:nvSpPr>
        <p:spPr>
          <a:xfrm>
            <a:off x="6985000" y="2044700"/>
            <a:ext cx="2006600" cy="1244600"/>
          </a:xfrm>
          <a:prstGeom prst="rect">
            <a:avLst/>
          </a:prstGeom>
          <a:solidFill>
            <a:srgbClr val="F5F6F8"/>
          </a:solidFill>
          <a:ln w="9525" cap="flat" cmpd="sng" algn="ctr">
            <a:solidFill>
              <a:srgbClr val="DDE1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DE4328-A92C-B242-B3E2-0DCECBEEE736}"/>
              </a:ext>
            </a:extLst>
          </p:cNvPr>
          <p:cNvSpPr txBox="1"/>
          <p:nvPr/>
        </p:nvSpPr>
        <p:spPr>
          <a:xfrm>
            <a:off x="7086600" y="2095500"/>
            <a:ext cx="1803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100">
                <a:solidFill>
                  <a:srgbClr val="1A1A1A"/>
                </a:solidFill>
              </a:rPr>
              <a:t>Diffusion generates variants of the masked region; fine-tune on original + variants.</a:t>
            </a:r>
          </a:p>
          <a:p>
            <a:pPr>
              <a:lnSpc>
                <a:spcPts val="1250"/>
              </a:lnSpc>
              <a:buNone/>
            </a:pPr>
            <a:r>
              <a:rPr lang="en-US" sz="950" i="1">
                <a:solidFill>
                  <a:srgbClr val="5F5F5F"/>
                </a:solidFill>
              </a:rPr>
              <a:t>More essential × non-essential combinations break the shortcut.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504E11-12F6-0346-BEC4-7DC22134F228}"/>
              </a:ext>
            </a:extLst>
          </p:cNvPr>
          <p:cNvSpPr/>
          <p:nvPr/>
        </p:nvSpPr>
        <p:spPr>
          <a:xfrm>
            <a:off x="812800" y="3416300"/>
            <a:ext cx="2006600" cy="711200"/>
          </a:xfrm>
          <a:prstGeom prst="rect">
            <a:avLst/>
          </a:prstGeom>
          <a:solidFill>
            <a:srgbClr val="EAF2FA"/>
          </a:solidFill>
          <a:ln w="9525" cap="flat" cmpd="sng" algn="ctr">
            <a:solidFill>
              <a:srgbClr val="B7D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EAFF3A-9E23-0F44-A881-87C2BF55E808}"/>
              </a:ext>
            </a:extLst>
          </p:cNvPr>
          <p:cNvSpPr txBox="1"/>
          <p:nvPr/>
        </p:nvSpPr>
        <p:spPr>
          <a:xfrm>
            <a:off x="914400" y="3467100"/>
            <a:ext cx="1803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 b="1">
                <a:solidFill>
                  <a:srgbClr val="1F497D"/>
                </a:solidFill>
              </a:rPr>
              <a:t>Concept bank: image → {water, forest, beak, wing…}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5FE54E-5CF9-CB41-B400-E8B29FF749F2}"/>
              </a:ext>
            </a:extLst>
          </p:cNvPr>
          <p:cNvSpPr/>
          <p:nvPr/>
        </p:nvSpPr>
        <p:spPr>
          <a:xfrm>
            <a:off x="2870200" y="3416300"/>
            <a:ext cx="2006600" cy="711200"/>
          </a:xfrm>
          <a:prstGeom prst="rect">
            <a:avLst/>
          </a:prstGeom>
          <a:solidFill>
            <a:srgbClr val="EAF2FA"/>
          </a:solidFill>
          <a:ln w="9525" cap="flat" cmpd="sng" algn="ctr">
            <a:solidFill>
              <a:srgbClr val="B7D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DB997A-8B78-7D41-80FA-69D0080AE77B}"/>
              </a:ext>
            </a:extLst>
          </p:cNvPr>
          <p:cNvSpPr txBox="1"/>
          <p:nvPr/>
        </p:nvSpPr>
        <p:spPr>
          <a:xfrm>
            <a:off x="2971800" y="3467100"/>
            <a:ext cx="1803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 b="1">
                <a:solidFill>
                  <a:srgbClr val="1F497D"/>
                </a:solidFill>
              </a:rPr>
              <a:t>Suspect concept (e.g., forest).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4AD3CEA-DDCE-644D-95B5-9147E6F4CF0A}"/>
              </a:ext>
            </a:extLst>
          </p:cNvPr>
          <p:cNvSpPr/>
          <p:nvPr/>
        </p:nvSpPr>
        <p:spPr>
          <a:xfrm>
            <a:off x="4927600" y="3416300"/>
            <a:ext cx="2006600" cy="711200"/>
          </a:xfrm>
          <a:prstGeom prst="rect">
            <a:avLst/>
          </a:prstGeom>
          <a:solidFill>
            <a:srgbClr val="EAF2FA"/>
          </a:solidFill>
          <a:ln w="9525" cap="flat" cmpd="sng" algn="ctr">
            <a:solidFill>
              <a:srgbClr val="B7D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20717B-6790-6A43-AB10-1E9BEEBBC722}"/>
              </a:ext>
            </a:extLst>
          </p:cNvPr>
          <p:cNvSpPr txBox="1"/>
          <p:nvPr/>
        </p:nvSpPr>
        <p:spPr>
          <a:xfrm>
            <a:off x="5029200" y="3467100"/>
            <a:ext cx="1803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 b="1">
                <a:solidFill>
                  <a:srgbClr val="1F497D"/>
                </a:solidFill>
              </a:rPr>
              <a:t>Inpainting masks (e.g., the forest region).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E799A5-6B15-E748-ABAA-09FFE6BCDD4F}"/>
              </a:ext>
            </a:extLst>
          </p:cNvPr>
          <p:cNvSpPr/>
          <p:nvPr/>
        </p:nvSpPr>
        <p:spPr>
          <a:xfrm>
            <a:off x="6985000" y="3416300"/>
            <a:ext cx="2006600" cy="711200"/>
          </a:xfrm>
          <a:prstGeom prst="rect">
            <a:avLst/>
          </a:prstGeom>
          <a:solidFill>
            <a:srgbClr val="EAF2FA"/>
          </a:solidFill>
          <a:ln w="9525" cap="flat" cmpd="sng" algn="ctr">
            <a:solidFill>
              <a:srgbClr val="B7D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2C4D06-C220-7748-ABB8-BB199CD37A0C}"/>
              </a:ext>
            </a:extLst>
          </p:cNvPr>
          <p:cNvSpPr txBox="1"/>
          <p:nvPr/>
        </p:nvSpPr>
        <p:spPr>
          <a:xfrm>
            <a:off x="7086600" y="3467100"/>
            <a:ext cx="1803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 b="1">
                <a:solidFill>
                  <a:srgbClr val="1F497D"/>
                </a:solidFill>
              </a:rPr>
              <a:t>Repaired classifier.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42068F-4F21-6840-8B5B-1F2FC34742F2}"/>
              </a:ext>
            </a:extLst>
          </p:cNvPr>
          <p:cNvSpPr/>
          <p:nvPr/>
        </p:nvSpPr>
        <p:spPr>
          <a:xfrm>
            <a:off x="812800" y="1003300"/>
            <a:ext cx="2006600" cy="381000"/>
          </a:xfrm>
          <a:prstGeom prst="rect">
            <a:avLst/>
          </a:prstGeom>
          <a:solidFill>
            <a:srgbClr val="0064B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1. Encode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CD1895-C957-694D-8261-7C1389F25881}"/>
              </a:ext>
            </a:extLst>
          </p:cNvPr>
          <p:cNvSpPr/>
          <p:nvPr/>
        </p:nvSpPr>
        <p:spPr>
          <a:xfrm>
            <a:off x="2870200" y="1003300"/>
            <a:ext cx="2006600" cy="381000"/>
          </a:xfrm>
          <a:prstGeom prst="rect">
            <a:avLst/>
          </a:prstGeom>
          <a:solidFill>
            <a:srgbClr val="1A77C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2. Diagnose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E53254-5B4F-3A47-933A-86BA6D662233}"/>
              </a:ext>
            </a:extLst>
          </p:cNvPr>
          <p:cNvSpPr/>
          <p:nvPr/>
        </p:nvSpPr>
        <p:spPr>
          <a:xfrm>
            <a:off x="4927600" y="1003300"/>
            <a:ext cx="2006600" cy="381000"/>
          </a:xfrm>
          <a:prstGeom prst="rect">
            <a:avLst/>
          </a:prstGeom>
          <a:solidFill>
            <a:srgbClr val="3389D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3. Localize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D28FC-BA99-C647-8DEE-B5BE788C7ACC}"/>
              </a:ext>
            </a:extLst>
          </p:cNvPr>
          <p:cNvSpPr/>
          <p:nvPr/>
        </p:nvSpPr>
        <p:spPr>
          <a:xfrm>
            <a:off x="6985000" y="1003300"/>
            <a:ext cx="2006600" cy="381000"/>
          </a:xfrm>
          <a:prstGeom prst="rect">
            <a:avLst/>
          </a:prstGeom>
          <a:solidFill>
            <a:srgbClr val="4C9C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4. Repair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919EC-FA15-D949-A2B6-56004A6BADA8}"/>
              </a:ext>
            </a:extLst>
          </p:cNvPr>
          <p:cNvSpPr txBox="1"/>
          <p:nvPr/>
        </p:nvSpPr>
        <p:spPr>
          <a:xfrm>
            <a:off x="4927600" y="48006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5F5F5F"/>
                </a:solidFill>
              </a:rPr>
              <a:t>Concept embeddings via </a:t>
            </a:r>
            <a:r>
              <a:rPr lang="en-US" sz="1100" i="1" err="1">
                <a:solidFill>
                  <a:srgbClr val="5F5F5F"/>
                </a:solidFill>
              </a:rPr>
              <a:t>SpLiCE</a:t>
            </a:r>
            <a:r>
              <a:rPr lang="en-US" sz="1100" i="1">
                <a:solidFill>
                  <a:srgbClr val="5F5F5F"/>
                </a:solidFill>
              </a:rPr>
              <a:t> </a:t>
            </a:r>
            <a:r>
              <a:rPr lang="en-US" sz="1100" i="1" baseline="30000">
                <a:solidFill>
                  <a:srgbClr val="5F5F5F"/>
                </a:solidFill>
              </a:rPr>
              <a:t>[24]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C2583-CF8E-001B-D380-BB0CC5604540}"/>
              </a:ext>
            </a:extLst>
          </p:cNvPr>
          <p:cNvSpPr txBox="1"/>
          <p:nvPr/>
        </p:nvSpPr>
        <p:spPr>
          <a:xfrm>
            <a:off x="3078760" y="4189528"/>
            <a:ext cx="5998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Asymmetric concept = appears much more in one class than the other (e.g., “forest" in landbirds). These are the ones the model is tempted to use as shortcuts.</a:t>
            </a:r>
          </a:p>
        </p:txBody>
      </p:sp>
    </p:spTree>
    <p:extLst>
      <p:ext uri="{BB962C8B-B14F-4D97-AF65-F5344CB8AC3E}">
        <p14:creationId xmlns:p14="http://schemas.microsoft.com/office/powerpoint/2010/main" val="2284210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73ADD64-CF5F-FA0F-CD34-B4581810DE22}"/>
              </a:ext>
            </a:extLst>
          </p:cNvPr>
          <p:cNvSpPr txBox="1"/>
          <p:nvPr/>
        </p:nvSpPr>
        <p:spPr>
          <a:xfrm>
            <a:off x="1193075" y="114534"/>
            <a:ext cx="626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EGMR Pipeline on a single misprediction (Northern Fulmar)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83EEA4-B112-F45C-034F-EE4B49C6488C}"/>
                  </a:ext>
                </a:extLst>
              </p14:cNvPr>
              <p14:cNvContentPartPr/>
              <p14:nvPr/>
            </p14:nvContentPartPr>
            <p14:xfrm>
              <a:off x="3890694" y="143772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83EEA4-B112-F45C-034F-EE4B49C648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1694" y="1383728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5FFFF6D-A94E-35B1-A30C-D67B573A524D}"/>
                  </a:ext>
                </a:extLst>
              </p14:cNvPr>
              <p14:cNvContentPartPr/>
              <p14:nvPr/>
            </p14:nvContentPartPr>
            <p14:xfrm>
              <a:off x="4757034" y="1795028"/>
              <a:ext cx="108360" cy="1976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5FFFF6D-A94E-35B1-A30C-D67B573A52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94243" y="1732028"/>
                <a:ext cx="233584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F8741D2E-A28B-7552-FC1C-9958CF477A12}"/>
                  </a:ext>
                </a:extLst>
              </p14:cNvPr>
              <p14:cNvContentPartPr/>
              <p14:nvPr/>
            </p14:nvContentPartPr>
            <p14:xfrm>
              <a:off x="4344654" y="2005088"/>
              <a:ext cx="1073880" cy="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F8741D2E-A28B-7552-FC1C-9958CF477A1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81654" y="1879088"/>
                <a:ext cx="11995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659EED8-E601-400F-6552-05B72D737F93}"/>
                  </a:ext>
                </a:extLst>
              </p14:cNvPr>
              <p14:cNvContentPartPr/>
              <p14:nvPr/>
            </p14:nvContentPartPr>
            <p14:xfrm>
              <a:off x="5139174" y="1979888"/>
              <a:ext cx="204120" cy="3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659EED8-E601-400F-6552-05B72D737F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76174" y="1916888"/>
                <a:ext cx="3297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CAFF2A5-727E-48ED-821F-67BE00074FC2}"/>
                  </a:ext>
                </a:extLst>
              </p14:cNvPr>
              <p14:cNvContentPartPr/>
              <p14:nvPr/>
            </p14:nvContentPartPr>
            <p14:xfrm>
              <a:off x="4380988" y="2053001"/>
              <a:ext cx="1135800" cy="194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CAFF2A5-727E-48ED-821F-67BE00074FC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17988" y="1990001"/>
                <a:ext cx="12614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F5261FA1-A516-41CA-16B9-C0A6A00D5B25}"/>
                  </a:ext>
                </a:extLst>
              </p14:cNvPr>
              <p14:cNvContentPartPr/>
              <p14:nvPr/>
            </p14:nvContentPartPr>
            <p14:xfrm>
              <a:off x="4673334" y="1488381"/>
              <a:ext cx="906120" cy="154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F5261FA1-A516-41CA-16B9-C0A6A00D5B2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10334" y="1425381"/>
                <a:ext cx="1031760" cy="141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PipelineCaption">
            <a:extLst>
              <a:ext uri="{FF2B5EF4-FFF2-40B4-BE49-F238E27FC236}">
                <a16:creationId xmlns:a16="http://schemas.microsoft.com/office/drawing/2014/main" id="{5F64D3EB-739E-4135-BA84-273985B23D9E}"/>
              </a:ext>
            </a:extLst>
          </p:cNvPr>
          <p:cNvSpPr txBox="1"/>
          <p:nvPr/>
        </p:nvSpPr>
        <p:spPr>
          <a:xfrm>
            <a:off x="457200" y="3532149"/>
            <a:ext cx="8229600" cy="99001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5F5F5F"/>
                </a:solidFill>
              </a:rPr>
              <a:t>Figure: Original image: model predicts </a:t>
            </a:r>
            <a:r>
              <a:rPr lang="en-US" sz="1400" b="1" dirty="0">
                <a:solidFill>
                  <a:srgbClr val="C0504D"/>
                </a:solidFill>
              </a:rPr>
              <a:t>landbird</a:t>
            </a:r>
            <a:r>
              <a:rPr lang="en-US" sz="1400" dirty="0">
                <a:solidFill>
                  <a:srgbClr val="5F5F5F"/>
                </a:solidFill>
              </a:rPr>
              <a:t>. </a:t>
            </a:r>
            <a:r>
              <a:rPr lang="en-US" sz="1400" b="1" dirty="0">
                <a:solidFill>
                  <a:srgbClr val="1A1A1A"/>
                </a:solidFill>
              </a:rPr>
              <a:t>Diagnose </a:t>
            </a:r>
            <a:r>
              <a:rPr lang="en-US" sz="1400" dirty="0">
                <a:solidFill>
                  <a:srgbClr val="5F5F5F"/>
                </a:solidFill>
              </a:rPr>
              <a:t>flags ‘</a:t>
            </a:r>
            <a:r>
              <a:rPr lang="en-US" sz="1400" i="1" dirty="0">
                <a:solidFill>
                  <a:srgbClr val="5F5F5F"/>
                </a:solidFill>
              </a:rPr>
              <a:t>forest’ </a:t>
            </a:r>
            <a:r>
              <a:rPr lang="en-US" sz="1400" dirty="0">
                <a:solidFill>
                  <a:srgbClr val="5F5F5F"/>
                </a:solidFill>
              </a:rPr>
              <a:t>as the suspect concept. </a:t>
            </a:r>
            <a:r>
              <a:rPr lang="en-US" sz="1400" b="1" dirty="0">
                <a:solidFill>
                  <a:srgbClr val="1A1A1A"/>
                </a:solidFill>
              </a:rPr>
              <a:t>Localize </a:t>
            </a:r>
            <a:r>
              <a:rPr lang="en-US" sz="1400" dirty="0">
                <a:solidFill>
                  <a:srgbClr val="5F5F5F"/>
                </a:solidFill>
              </a:rPr>
              <a:t>masks the forest region. </a:t>
            </a:r>
            <a:r>
              <a:rPr lang="en-US" sz="1400" b="1" dirty="0">
                <a:solidFill>
                  <a:srgbClr val="1A1A1A"/>
                </a:solidFill>
              </a:rPr>
              <a:t>Repair </a:t>
            </a:r>
            <a:r>
              <a:rPr lang="en-US" sz="1400" dirty="0">
                <a:solidFill>
                  <a:srgbClr val="5F5F5F"/>
                </a:solidFill>
              </a:rPr>
              <a:t>generates diffusion variants and fine-tunes</a:t>
            </a:r>
          </a:p>
          <a:p>
            <a:pPr algn="ctr">
              <a:buNone/>
            </a:pPr>
            <a:endParaRPr lang="en-US" sz="1400" dirty="0">
              <a:solidFill>
                <a:srgbClr val="5F5F5F"/>
              </a:solidFill>
            </a:endParaRPr>
          </a:p>
          <a:p>
            <a:pPr algn="ctr">
              <a:spcBef>
                <a:spcPts val="400"/>
              </a:spcBef>
              <a:buNone/>
            </a:pPr>
            <a:r>
              <a:rPr lang="en-US" sz="1300" i="1" dirty="0">
                <a:solidFill>
                  <a:srgbClr val="5F5F5F"/>
                </a:solidFill>
              </a:rPr>
              <a:t>Repeated across all </a:t>
            </a:r>
            <a:r>
              <a:rPr lang="en-US" sz="1300" i="1" dirty="0" err="1">
                <a:solidFill>
                  <a:srgbClr val="5F5F5F"/>
                </a:solidFill>
              </a:rPr>
              <a:t>mispredicted</a:t>
            </a:r>
            <a:r>
              <a:rPr lang="en-US" sz="1300" i="1" dirty="0">
                <a:solidFill>
                  <a:srgbClr val="5F5F5F"/>
                </a:solidFill>
              </a:rPr>
              <a:t> validation images to build the repair set.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919A-B0E2-0F4E-8EBA-CD1F4DB0650A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2567"/>
            <a:ext cx="9144000" cy="256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94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225E-0834-9A60-8D85-73D0BEFA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Results on Waterbirds</a:t>
            </a:r>
          </a:p>
        </p:txBody>
      </p:sp>
      <p:graphicFrame>
        <p:nvGraphicFramePr>
          <p:cNvPr id="500" name="WaterbirdsChart"/>
          <p:cNvGraphicFramePr/>
          <p:nvPr/>
        </p:nvGraphicFramePr>
        <p:xfrm>
          <a:off x="1016000" y="1168400"/>
          <a:ext cx="7112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1" name="Caption"/>
          <p:cNvSpPr txBox="1"/>
          <p:nvPr/>
        </p:nvSpPr>
        <p:spPr>
          <a:xfrm>
            <a:off x="669851" y="4034551"/>
            <a:ext cx="82296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>
                <a:solidFill>
                  <a:srgbClr val="1A1A1A"/>
                </a:solidFill>
              </a:rPr>
              <a:t>+1.6 pts worst-group, +3.2 pts overall over JTT</a:t>
            </a:r>
            <a:r>
              <a:rPr lang="en-US" sz="1600">
                <a:solidFill>
                  <a:srgbClr val="1A1A1A"/>
                </a:solidFill>
              </a:rPr>
              <a:t>, without group labels.</a:t>
            </a:r>
          </a:p>
        </p:txBody>
      </p:sp>
    </p:spTree>
    <p:extLst>
      <p:ext uri="{BB962C8B-B14F-4D97-AF65-F5344CB8AC3E}">
        <p14:creationId xmlns:p14="http://schemas.microsoft.com/office/powerpoint/2010/main" val="3988472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E08B-A54E-4D30-49C9-4A543BC6B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238999"/>
            <a:ext cx="8229600" cy="857250"/>
          </a:xfrm>
        </p:spPr>
        <p:txBody>
          <a:bodyPr/>
          <a:lstStyle/>
          <a:p>
            <a:r>
              <a:rPr lang="en-US" baseline="30000"/>
              <a:t>Remaining work, Experimental plan</a:t>
            </a:r>
          </a:p>
        </p:txBody>
      </p:sp>
      <p:sp>
        <p:nvSpPr>
          <p:cNvPr id="100" name="Quad 100"/>
          <p:cNvSpPr/>
          <p:nvPr/>
        </p:nvSpPr>
        <p:spPr>
          <a:xfrm>
            <a:off x="210457" y="1650999"/>
            <a:ext cx="2603500" cy="16310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>
              <a:spcAft>
                <a:spcPts val="300"/>
              </a:spcAft>
              <a:buNone/>
            </a:pPr>
            <a:r>
              <a:rPr lang="en-US" sz="1600" b="1"/>
              <a:t>Benchmarks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CelebA — gender→ blond shortcut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ImageNet-9 — texture/shape bias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err="1"/>
              <a:t>ColorMNIST</a:t>
            </a:r>
            <a:r>
              <a:rPr lang="en-US" sz="1200"/>
              <a:t> — sanity check</a:t>
            </a:r>
          </a:p>
        </p:txBody>
      </p:sp>
      <p:sp>
        <p:nvSpPr>
          <p:cNvPr id="101" name="Quad 101"/>
          <p:cNvSpPr/>
          <p:nvPr/>
        </p:nvSpPr>
        <p:spPr>
          <a:xfrm>
            <a:off x="3252107" y="1650998"/>
            <a:ext cx="2893786" cy="16310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>
              <a:spcAft>
                <a:spcPts val="300"/>
              </a:spcAft>
              <a:buNone/>
            </a:pPr>
            <a:r>
              <a:rPr lang="en-US" sz="1600" b="1"/>
              <a:t>Baselines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Deep Feature Reweighting </a:t>
            </a:r>
            <a:r>
              <a:rPr lang="en-US" sz="1200" baseline="30000"/>
              <a:t>[27]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Discover and Cure </a:t>
            </a:r>
            <a:r>
              <a:rPr lang="en-US" sz="1200" baseline="30000"/>
              <a:t>[25]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Correct-N-Contrast </a:t>
            </a:r>
            <a:r>
              <a:rPr lang="en-US" sz="1200" baseline="30000"/>
              <a:t>[26]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GroupDRO (oracle upper bound) </a:t>
            </a:r>
            <a:r>
              <a:rPr lang="en-US" sz="1200" baseline="30000"/>
              <a:t>[22]</a:t>
            </a:r>
          </a:p>
        </p:txBody>
      </p:sp>
      <p:sp>
        <p:nvSpPr>
          <p:cNvPr id="102" name="Quad 102"/>
          <p:cNvSpPr/>
          <p:nvPr/>
        </p:nvSpPr>
        <p:spPr>
          <a:xfrm>
            <a:off x="6524171" y="1650999"/>
            <a:ext cx="3512457" cy="138162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>
              <a:spcAft>
                <a:spcPts val="300"/>
              </a:spcAft>
              <a:buNone/>
            </a:pPr>
            <a:r>
              <a:rPr lang="en-US" sz="1600" b="1"/>
              <a:t>Ablations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Concept bank size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Asymmetry threshold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Inpainting quality → performance</a:t>
            </a:r>
          </a:p>
          <a:p>
            <a:pPr marL="171450" indent="-171450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/>
              <a:t>Recurrence threshold</a:t>
            </a:r>
          </a:p>
        </p:txBody>
      </p:sp>
    </p:spTree>
    <p:extLst>
      <p:ext uri="{BB962C8B-B14F-4D97-AF65-F5344CB8AC3E}">
        <p14:creationId xmlns:p14="http://schemas.microsoft.com/office/powerpoint/2010/main" val="1446463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892B-10B0-E151-32BA-F7AA0BFE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3922D49D-B122-24D3-5BA7-0120EE95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/>
              <a:t>Summary and Timeline</a:t>
            </a:r>
          </a:p>
        </p:txBody>
      </p:sp>
    </p:spTree>
    <p:extLst>
      <p:ext uri="{BB962C8B-B14F-4D97-AF65-F5344CB8AC3E}">
        <p14:creationId xmlns:p14="http://schemas.microsoft.com/office/powerpoint/2010/main" val="1461751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8AC4D-A539-4371-210C-E6A96EFB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A750-E1A9-E104-89F3-92DBEA26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Publications</a:t>
            </a:r>
          </a:p>
        </p:txBody>
      </p:sp>
      <p:cxnSp>
        <p:nvCxnSpPr>
          <p:cNvPr id="200" name="TopRule"/>
          <p:cNvCxnSpPr/>
          <p:nvPr/>
        </p:nvCxnSpPr>
        <p:spPr>
          <a:xfrm>
            <a:off x="457200" y="1104900"/>
            <a:ext cx="8229600" cy="0"/>
          </a:xfrm>
          <a:prstGeom prst="line">
            <a:avLst/>
          </a:prstGeom>
          <a:ln w="6350">
            <a:solidFill>
              <a:srgbClr val="E0E0E0"/>
            </a:solidFill>
          </a:ln>
        </p:spPr>
      </p:cxnSp>
      <p:sp>
        <p:nvSpPr>
          <p:cNvPr id="201" name="Legend"/>
          <p:cNvSpPr/>
          <p:nvPr/>
        </p:nvSpPr>
        <p:spPr>
          <a:xfrm>
            <a:off x="6858000" y="952500"/>
            <a:ext cx="182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900" b="1">
                <a:solidFill>
                  <a:srgbClr val="B8860B"/>
                </a:solidFill>
              </a:rPr>
              <a:t>■ </a:t>
            </a:r>
            <a:r>
              <a:rPr lang="en-US" sz="900" i="1">
                <a:solidFill>
                  <a:srgbClr val="666666"/>
                </a:solidFill>
              </a:rPr>
              <a:t>Included in this proposal</a:t>
            </a:r>
          </a:p>
        </p:txBody>
      </p:sp>
      <p:sp>
        <p:nvSpPr>
          <p:cNvPr id="202" name="YearPill"/>
          <p:cNvSpPr/>
          <p:nvPr/>
        </p:nvSpPr>
        <p:spPr>
          <a:xfrm>
            <a:off x="457200" y="12319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0064B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203" name="PropBand"/>
          <p:cNvSpPr/>
          <p:nvPr/>
        </p:nvSpPr>
        <p:spPr>
          <a:xfrm>
            <a:off x="1168400" y="1181100"/>
            <a:ext cx="7518400" cy="381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PropBar"/>
          <p:cNvSpPr/>
          <p:nvPr/>
        </p:nvSpPr>
        <p:spPr>
          <a:xfrm>
            <a:off x="1168400" y="1181100"/>
            <a:ext cx="38100" cy="381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aper"/>
          <p:cNvSpPr txBox="1"/>
          <p:nvPr/>
        </p:nvSpPr>
        <p:spPr>
          <a:xfrm>
            <a:off x="1244600" y="1206500"/>
            <a:ext cx="74422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</a:rPr>
              <a:t>ABLE: Adversarial Boundary Local Explanations for ML Predictions</a:t>
            </a:r>
            <a:r>
              <a:rPr lang="en-US" sz="900" b="1">
                <a:solidFill>
                  <a:srgbClr val="0064B1"/>
                </a:solidFill>
              </a:rPr>
              <a:t>  ·  KDD 2026</a:t>
            </a:r>
            <a:r>
              <a:rPr lang="en-US" sz="800" i="1">
                <a:solidFill>
                  <a:srgbClr val="666666"/>
                </a:solidFill>
              </a:rPr>
              <a:t>  CORE A*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 b="1">
                <a:solidFill>
                  <a:srgbClr val="666666"/>
                </a:solidFill>
              </a:rPr>
              <a:t>K. Khadka</a:t>
            </a:r>
            <a:r>
              <a:rPr lang="en-US" sz="900" b="0">
                <a:solidFill>
                  <a:srgbClr val="666666"/>
                </a:solidFill>
              </a:rPr>
              <a:t>, S. Shree, P. Budhathoki, Y. Lei, R. Kacker, D.R. Kuhn</a:t>
            </a:r>
          </a:p>
        </p:txBody>
      </p:sp>
      <p:sp>
        <p:nvSpPr>
          <p:cNvPr id="206" name="Paper"/>
          <p:cNvSpPr txBox="1"/>
          <p:nvPr/>
        </p:nvSpPr>
        <p:spPr>
          <a:xfrm>
            <a:off x="1244600" y="1587500"/>
            <a:ext cx="74422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rgbClr val="1A1A1A"/>
                </a:solidFill>
              </a:rPr>
              <a:t>A Combinatorial Approach to Synthetic Data Generation for ML</a:t>
            </a:r>
            <a:r>
              <a:rPr lang="en-US" sz="900" b="1">
                <a:solidFill>
                  <a:srgbClr val="0064B1"/>
                </a:solidFill>
              </a:rPr>
              <a:t>  ·  SN Computer Science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 b="1">
                <a:solidFill>
                  <a:srgbClr val="666666"/>
                </a:solidFill>
              </a:rPr>
              <a:t>K. Khadka</a:t>
            </a:r>
            <a:r>
              <a:rPr lang="en-US" sz="900" b="0">
                <a:solidFill>
                  <a:srgbClr val="666666"/>
                </a:solidFill>
              </a:rPr>
              <a:t>, J. Chandrasekaran, Y. Lei, R. Kacker, D.R. Kuhn</a:t>
            </a:r>
          </a:p>
        </p:txBody>
      </p:sp>
      <p:sp>
        <p:nvSpPr>
          <p:cNvPr id="207" name="Paper"/>
          <p:cNvSpPr txBox="1"/>
          <p:nvPr/>
        </p:nvSpPr>
        <p:spPr>
          <a:xfrm>
            <a:off x="1244600" y="1968500"/>
            <a:ext cx="74422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rgbClr val="1A1A1A"/>
                </a:solidFill>
              </a:rPr>
              <a:t>TabKD: Tabular Knowledge Distillation via Feature-Bin Interaction Diversity</a:t>
            </a:r>
            <a:r>
              <a:rPr lang="en-US" sz="900" b="1">
                <a:solidFill>
                  <a:srgbClr val="0064B1"/>
                </a:solidFill>
              </a:rPr>
              <a:t>  ·  IJCAI 2026</a:t>
            </a:r>
            <a:r>
              <a:rPr lang="en-US" sz="800" i="1">
                <a:solidFill>
                  <a:srgbClr val="666666"/>
                </a:solidFill>
              </a:rPr>
              <a:t>  Under Review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 b="0">
                <a:solidFill>
                  <a:srgbClr val="666666"/>
                </a:solidFill>
              </a:rPr>
              <a:t>S.N. Pereira</a:t>
            </a:r>
            <a:r>
              <a:rPr lang="en-US" sz="900" b="1">
                <a:solidFill>
                  <a:srgbClr val="666666"/>
                </a:solidFill>
              </a:rPr>
              <a:t>, K. Khadka</a:t>
            </a:r>
            <a:r>
              <a:rPr lang="en-US" sz="900" b="0">
                <a:solidFill>
                  <a:srgbClr val="666666"/>
                </a:solidFill>
              </a:rPr>
              <a:t>, Y. Lei</a:t>
            </a:r>
          </a:p>
        </p:txBody>
      </p:sp>
      <p:sp>
        <p:nvSpPr>
          <p:cNvPr id="208" name="PropBand"/>
          <p:cNvSpPr/>
          <p:nvPr/>
        </p:nvSpPr>
        <p:spPr>
          <a:xfrm>
            <a:off x="1168400" y="2324100"/>
            <a:ext cx="7518400" cy="381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PropBar"/>
          <p:cNvSpPr/>
          <p:nvPr/>
        </p:nvSpPr>
        <p:spPr>
          <a:xfrm>
            <a:off x="1168400" y="2324100"/>
            <a:ext cx="38100" cy="381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Paper"/>
          <p:cNvSpPr txBox="1"/>
          <p:nvPr/>
        </p:nvSpPr>
        <p:spPr>
          <a:xfrm>
            <a:off x="1244600" y="2349500"/>
            <a:ext cx="74422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</a:rPr>
              <a:t>DD-CAM: Minimal Sufficient Explanations for Vision Models via Delta Debugging</a:t>
            </a:r>
            <a:r>
              <a:rPr lang="en-US" sz="900" b="1">
                <a:solidFill>
                  <a:srgbClr val="0064B1"/>
                </a:solidFill>
              </a:rPr>
              <a:t>  ·  arXiv:2602.19274</a:t>
            </a:r>
            <a:r>
              <a:rPr lang="en-US" sz="800" i="1">
                <a:solidFill>
                  <a:srgbClr val="666666"/>
                </a:solidFill>
              </a:rPr>
              <a:t>  Preprint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 b="1">
                <a:solidFill>
                  <a:srgbClr val="666666"/>
                </a:solidFill>
              </a:rPr>
              <a:t>K. Khadka</a:t>
            </a:r>
            <a:r>
              <a:rPr lang="en-US" sz="900" b="0">
                <a:solidFill>
                  <a:srgbClr val="666666"/>
                </a:solidFill>
              </a:rPr>
              <a:t>, Y. Lei, R.N. Kacker, D.R. Kuhn</a:t>
            </a:r>
          </a:p>
        </p:txBody>
      </p:sp>
      <p:sp>
        <p:nvSpPr>
          <p:cNvPr id="211" name="YearPill"/>
          <p:cNvSpPr/>
          <p:nvPr/>
        </p:nvSpPr>
        <p:spPr>
          <a:xfrm>
            <a:off x="457200" y="2832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0064B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212" name="Paper"/>
          <p:cNvSpPr txBox="1"/>
          <p:nvPr/>
        </p:nvSpPr>
        <p:spPr>
          <a:xfrm>
            <a:off x="1244600" y="2806700"/>
            <a:ext cx="74422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rgbClr val="1A1A1A"/>
                </a:solidFill>
              </a:rPr>
              <a:t>Constructing Surrogate Models Using Combinatorial Testing</a:t>
            </a:r>
            <a:r>
              <a:rPr lang="en-US" sz="900" b="1">
                <a:solidFill>
                  <a:srgbClr val="0064B1"/>
                </a:solidFill>
              </a:rPr>
              <a:t>  ·  ASE 2024</a:t>
            </a:r>
            <a:r>
              <a:rPr lang="en-US" sz="800" i="1">
                <a:solidFill>
                  <a:srgbClr val="666666"/>
                </a:solidFill>
              </a:rPr>
              <a:t>  CORE A*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 b="0">
                <a:solidFill>
                  <a:srgbClr val="666666"/>
                </a:solidFill>
              </a:rPr>
              <a:t>S. Shree</a:t>
            </a:r>
            <a:r>
              <a:rPr lang="en-US" sz="900" b="1">
                <a:solidFill>
                  <a:srgbClr val="666666"/>
                </a:solidFill>
              </a:rPr>
              <a:t>, K. Khadka</a:t>
            </a:r>
            <a:r>
              <a:rPr lang="en-US" sz="900" b="0">
                <a:solidFill>
                  <a:srgbClr val="666666"/>
                </a:solidFill>
              </a:rPr>
              <a:t>, Y. Lei, R.N. Kacker, D.R. Kuhn</a:t>
            </a:r>
          </a:p>
        </p:txBody>
      </p:sp>
      <p:sp>
        <p:nvSpPr>
          <p:cNvPr id="213" name="Paper"/>
          <p:cNvSpPr txBox="1"/>
          <p:nvPr/>
        </p:nvSpPr>
        <p:spPr>
          <a:xfrm>
            <a:off x="1244600" y="3187700"/>
            <a:ext cx="74422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rgbClr val="1A1A1A"/>
                </a:solidFill>
              </a:rPr>
              <a:t>A Combinatorial Approach to Hyperparameter Optimization</a:t>
            </a:r>
            <a:r>
              <a:rPr lang="en-US" sz="900" b="1">
                <a:solidFill>
                  <a:srgbClr val="0064B1"/>
                </a:solidFill>
              </a:rPr>
              <a:t>  ·  CAIN 2024</a:t>
            </a:r>
            <a:r>
              <a:rPr lang="en-US" sz="800" i="1">
                <a:solidFill>
                  <a:srgbClr val="666666"/>
                </a:solidFill>
              </a:rPr>
              <a:t>  Distinguished Paper Candidate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 b="1">
                <a:solidFill>
                  <a:srgbClr val="666666"/>
                </a:solidFill>
              </a:rPr>
              <a:t>K. Khadka</a:t>
            </a:r>
            <a:r>
              <a:rPr lang="en-US" sz="900" b="0">
                <a:solidFill>
                  <a:srgbClr val="666666"/>
                </a:solidFill>
              </a:rPr>
              <a:t>, J. Chandrasekaran, Y. Lei, R.N. Kacker, D.R. Kuhn</a:t>
            </a:r>
          </a:p>
        </p:txBody>
      </p:sp>
      <p:sp>
        <p:nvSpPr>
          <p:cNvPr id="214" name="PropBand"/>
          <p:cNvSpPr/>
          <p:nvPr/>
        </p:nvSpPr>
        <p:spPr>
          <a:xfrm>
            <a:off x="1168400" y="3543300"/>
            <a:ext cx="7518400" cy="381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PropBar"/>
          <p:cNvSpPr/>
          <p:nvPr/>
        </p:nvSpPr>
        <p:spPr>
          <a:xfrm>
            <a:off x="1168400" y="3543300"/>
            <a:ext cx="38100" cy="381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Paper"/>
          <p:cNvSpPr txBox="1"/>
          <p:nvPr/>
        </p:nvSpPr>
        <p:spPr>
          <a:xfrm>
            <a:off x="1244600" y="3568700"/>
            <a:ext cx="74422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rgbClr val="B8860B"/>
                </a:solidFill>
              </a:rPr>
              <a:t>Assessing Feature Interactions in Model Predictions</a:t>
            </a:r>
            <a:r>
              <a:rPr lang="en-US" sz="900" b="1">
                <a:solidFill>
                  <a:srgbClr val="0064B1"/>
                </a:solidFill>
              </a:rPr>
              <a:t>  ·  ICSTW 2024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 b="1">
                <a:solidFill>
                  <a:srgbClr val="666666"/>
                </a:solidFill>
              </a:rPr>
              <a:t>K. Khadka</a:t>
            </a:r>
            <a:r>
              <a:rPr lang="en-US" sz="900" b="0">
                <a:solidFill>
                  <a:srgbClr val="666666"/>
                </a:solidFill>
              </a:rPr>
              <a:t>, S. Shree, Y. Lei, R.N. Kacker, D.R. Kuhn</a:t>
            </a:r>
          </a:p>
        </p:txBody>
      </p:sp>
      <p:sp>
        <p:nvSpPr>
          <p:cNvPr id="217" name="YearPill"/>
          <p:cNvSpPr/>
          <p:nvPr/>
        </p:nvSpPr>
        <p:spPr>
          <a:xfrm>
            <a:off x="457200" y="40513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0064B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218" name="Paper"/>
          <p:cNvSpPr txBox="1"/>
          <p:nvPr/>
        </p:nvSpPr>
        <p:spPr>
          <a:xfrm>
            <a:off x="1244600" y="4025900"/>
            <a:ext cx="74422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rgbClr val="1A1A1A"/>
                </a:solidFill>
              </a:rPr>
              <a:t>Synthetic Data Generation Using Combinatorial Testing and VAE</a:t>
            </a:r>
            <a:r>
              <a:rPr lang="en-US" sz="900" b="1">
                <a:solidFill>
                  <a:srgbClr val="0064B1"/>
                </a:solidFill>
              </a:rPr>
              <a:t>  ·  ICSTW 2023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 b="1">
                <a:solidFill>
                  <a:srgbClr val="666666"/>
                </a:solidFill>
              </a:rPr>
              <a:t>K. Khadka</a:t>
            </a:r>
            <a:r>
              <a:rPr lang="en-US" sz="900" b="0">
                <a:solidFill>
                  <a:srgbClr val="666666"/>
                </a:solidFill>
              </a:rPr>
              <a:t>, J. Chandrasekaran, Y. Lei, R.N. Kacker, D.R. Kuhn</a:t>
            </a:r>
          </a:p>
        </p:txBody>
      </p:sp>
    </p:spTree>
    <p:extLst>
      <p:ext uri="{BB962C8B-B14F-4D97-AF65-F5344CB8AC3E}">
        <p14:creationId xmlns:p14="http://schemas.microsoft.com/office/powerpoint/2010/main" val="3552973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DD7AA-8BB8-9707-EB55-B4D56D0E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</a:t>
            </a:r>
          </a:p>
        </p:txBody>
      </p:sp>
      <p:cxnSp>
        <p:nvCxnSpPr>
          <p:cNvPr id="300" name="TLLine"/>
          <p:cNvCxnSpPr/>
          <p:nvPr/>
        </p:nvCxnSpPr>
        <p:spPr>
          <a:xfrm>
            <a:off x="711200" y="1651000"/>
            <a:ext cx="7975600" cy="0"/>
          </a:xfrm>
          <a:prstGeom prst="line">
            <a:avLst/>
          </a:prstGeom>
          <a:ln w="19050">
            <a:solidFill>
              <a:srgbClr val="B3D4E8"/>
            </a:solidFill>
          </a:ln>
        </p:spPr>
      </p:cxnSp>
      <p:sp>
        <p:nvSpPr>
          <p:cNvPr id="301" name="Node"/>
          <p:cNvSpPr/>
          <p:nvPr/>
        </p:nvSpPr>
        <p:spPr>
          <a:xfrm>
            <a:off x="596900" y="1536700"/>
            <a:ext cx="228600" cy="228600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MsLabel"/>
          <p:cNvSpPr txBox="1"/>
          <p:nvPr/>
        </p:nvSpPr>
        <p:spPr>
          <a:xfrm>
            <a:off x="-50800" y="990600"/>
            <a:ext cx="1524000" cy="508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100" b="1">
                <a:solidFill>
                  <a:srgbClr val="B8860B"/>
                </a:solidFill>
              </a:rPr>
              <a:t>Apr 2026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>
                <a:solidFill>
                  <a:srgbClr val="666666"/>
                </a:solidFill>
              </a:rPr>
              <a:t>Now</a:t>
            </a:r>
          </a:p>
        </p:txBody>
      </p:sp>
      <p:sp>
        <p:nvSpPr>
          <p:cNvPr id="303" name="Node"/>
          <p:cNvSpPr/>
          <p:nvPr/>
        </p:nvSpPr>
        <p:spPr>
          <a:xfrm>
            <a:off x="2376932" y="1562100"/>
            <a:ext cx="177800" cy="177800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4" name="MsLabel"/>
          <p:cNvSpPr txBox="1"/>
          <p:nvPr/>
        </p:nvSpPr>
        <p:spPr>
          <a:xfrm>
            <a:off x="1703832" y="1854200"/>
            <a:ext cx="1524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>
                <a:solidFill>
                  <a:srgbClr val="0064B1"/>
                </a:solidFill>
              </a:rPr>
              <a:t>May 2026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>
                <a:solidFill>
                  <a:srgbClr val="666666"/>
                </a:solidFill>
              </a:rPr>
              <a:t>EGMR pilots + DD-CAM (NeurIPS 2026)</a:t>
            </a:r>
          </a:p>
        </p:txBody>
      </p:sp>
      <p:sp>
        <p:nvSpPr>
          <p:cNvPr id="305" name="Node"/>
          <p:cNvSpPr/>
          <p:nvPr/>
        </p:nvSpPr>
        <p:spPr>
          <a:xfrm>
            <a:off x="4610100" y="1562100"/>
            <a:ext cx="177800" cy="177800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6" name="MsLabel"/>
          <p:cNvSpPr txBox="1"/>
          <p:nvPr/>
        </p:nvSpPr>
        <p:spPr>
          <a:xfrm>
            <a:off x="3937000" y="990600"/>
            <a:ext cx="1524000" cy="508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100" b="1">
                <a:solidFill>
                  <a:srgbClr val="0064B1"/>
                </a:solidFill>
              </a:rPr>
              <a:t>Jul 2026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>
                <a:solidFill>
                  <a:srgbClr val="666666"/>
                </a:solidFill>
              </a:rPr>
              <a:t>EGMR submission (AAAI)</a:t>
            </a:r>
          </a:p>
        </p:txBody>
      </p:sp>
      <p:sp>
        <p:nvSpPr>
          <p:cNvPr id="307" name="Node"/>
          <p:cNvSpPr/>
          <p:nvPr/>
        </p:nvSpPr>
        <p:spPr>
          <a:xfrm>
            <a:off x="6604000" y="1562100"/>
            <a:ext cx="177800" cy="177800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MsLabel"/>
          <p:cNvSpPr txBox="1"/>
          <p:nvPr/>
        </p:nvSpPr>
        <p:spPr>
          <a:xfrm>
            <a:off x="5930900" y="1854200"/>
            <a:ext cx="1524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>
                <a:solidFill>
                  <a:srgbClr val="0064B1"/>
                </a:solidFill>
              </a:rPr>
              <a:t>Sep–Oct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>
                <a:solidFill>
                  <a:srgbClr val="666666"/>
                </a:solidFill>
              </a:rPr>
              <a:t>Dissertation write-up</a:t>
            </a:r>
          </a:p>
        </p:txBody>
      </p:sp>
      <p:sp>
        <p:nvSpPr>
          <p:cNvPr id="309" name="Node"/>
          <p:cNvSpPr/>
          <p:nvPr/>
        </p:nvSpPr>
        <p:spPr>
          <a:xfrm>
            <a:off x="8597900" y="1562100"/>
            <a:ext cx="177800" cy="177800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0" name="MsLabel"/>
          <p:cNvSpPr txBox="1"/>
          <p:nvPr/>
        </p:nvSpPr>
        <p:spPr>
          <a:xfrm>
            <a:off x="7924800" y="990600"/>
            <a:ext cx="1524000" cy="508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100" b="1">
                <a:solidFill>
                  <a:srgbClr val="0064B1"/>
                </a:solidFill>
              </a:rPr>
              <a:t>Nov 2026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900">
                <a:solidFill>
                  <a:srgbClr val="666666"/>
                </a:solidFill>
              </a:rPr>
              <a:t>Defense</a:t>
            </a:r>
          </a:p>
        </p:txBody>
      </p:sp>
      <p:sp>
        <p:nvSpPr>
          <p:cNvPr id="311" name="SumCard"/>
          <p:cNvSpPr/>
          <p:nvPr/>
        </p:nvSpPr>
        <p:spPr>
          <a:xfrm>
            <a:off x="357632" y="2946400"/>
            <a:ext cx="4038600" cy="134692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0E0E0"/>
            </a:solidFill>
          </a:ln>
        </p:spPr>
        <p:txBody>
          <a:bodyPr wrap="square" lIns="114300" tIns="91440" rIns="114300" bIns="91440" anchor="t"/>
          <a:lstStyle/>
          <a:p>
            <a:pPr>
              <a:spcAft>
                <a:spcPts val="300"/>
              </a:spcAft>
              <a:buNone/>
            </a:pPr>
            <a:r>
              <a:rPr lang="en-US" sz="1200" b="1">
                <a:solidFill>
                  <a:srgbClr val="2E7D32"/>
                </a:solidFill>
              </a:rPr>
              <a:t>Completed</a:t>
            </a:r>
          </a:p>
          <a:p>
            <a:pPr marL="142875" indent="-142875">
              <a:lnSpc>
                <a:spcPts val="1400"/>
              </a:lnSpc>
              <a:spcBef>
                <a:spcPts val="100"/>
              </a:spcBef>
              <a:buClr>
                <a:srgbClr val="2E7D32"/>
              </a:buClr>
              <a:buFont typeface="Arial"/>
              <a:buChar char="✓"/>
            </a:pPr>
            <a:r>
              <a:rPr lang="en-US" sz="1000">
                <a:solidFill>
                  <a:srgbClr val="1A1A1A"/>
                </a:solidFill>
              </a:rPr>
              <a:t>Feature Interactions (ICSTW 2024)</a:t>
            </a:r>
          </a:p>
          <a:p>
            <a:pPr marL="142875" indent="-142875">
              <a:lnSpc>
                <a:spcPts val="1400"/>
              </a:lnSpc>
              <a:spcBef>
                <a:spcPts val="100"/>
              </a:spcBef>
              <a:buClr>
                <a:srgbClr val="2E7D32"/>
              </a:buClr>
              <a:buFont typeface="Arial"/>
              <a:buChar char="✓"/>
            </a:pPr>
            <a:r>
              <a:rPr lang="en-US" sz="1000">
                <a:solidFill>
                  <a:srgbClr val="1A1A1A"/>
                </a:solidFill>
              </a:rPr>
              <a:t>ABLE (KDD 2026)</a:t>
            </a:r>
          </a:p>
          <a:p>
            <a:pPr marL="142875" indent="-142875">
              <a:lnSpc>
                <a:spcPts val="1400"/>
              </a:lnSpc>
              <a:spcBef>
                <a:spcPts val="100"/>
              </a:spcBef>
              <a:buClr>
                <a:srgbClr val="2E7D32"/>
              </a:buClr>
              <a:buFont typeface="Arial"/>
              <a:buChar char="✓"/>
            </a:pPr>
            <a:r>
              <a:rPr lang="en-US" sz="1000">
                <a:solidFill>
                  <a:srgbClr val="1A1A1A"/>
                </a:solidFill>
              </a:rPr>
              <a:t>DD-CAM initial paper</a:t>
            </a:r>
          </a:p>
          <a:p>
            <a:pPr marL="142875" indent="-142875">
              <a:lnSpc>
                <a:spcPts val="1400"/>
              </a:lnSpc>
              <a:spcBef>
                <a:spcPts val="100"/>
              </a:spcBef>
              <a:buClr>
                <a:srgbClr val="2E7D32"/>
              </a:buClr>
              <a:buFont typeface="Arial"/>
              <a:buChar char="✓"/>
            </a:pPr>
            <a:r>
              <a:rPr lang="en-US" sz="1000">
                <a:solidFill>
                  <a:srgbClr val="1A1A1A"/>
                </a:solidFill>
              </a:rPr>
              <a:t>EGMR: Waterbirds pilot</a:t>
            </a:r>
          </a:p>
        </p:txBody>
      </p:sp>
      <p:sp>
        <p:nvSpPr>
          <p:cNvPr id="312" name="SumCard"/>
          <p:cNvSpPr/>
          <p:nvPr/>
        </p:nvSpPr>
        <p:spPr>
          <a:xfrm>
            <a:off x="4610100" y="2946400"/>
            <a:ext cx="4076700" cy="134692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0E0E0"/>
            </a:solidFill>
          </a:ln>
        </p:spPr>
        <p:txBody>
          <a:bodyPr wrap="square" lIns="114300" tIns="91440" rIns="114300" bIns="91440" anchor="t"/>
          <a:lstStyle/>
          <a:p>
            <a:pPr>
              <a:spcAft>
                <a:spcPts val="300"/>
              </a:spcAft>
              <a:buNone/>
            </a:pPr>
            <a:r>
              <a:rPr lang="en-US" sz="1200" b="1">
                <a:solidFill>
                  <a:srgbClr val="B8860B"/>
                </a:solidFill>
              </a:rPr>
              <a:t>Next Up</a:t>
            </a:r>
          </a:p>
          <a:p>
            <a:pPr marL="142875" indent="-142875">
              <a:lnSpc>
                <a:spcPts val="1400"/>
              </a:lnSpc>
              <a:spcBef>
                <a:spcPts val="100"/>
              </a:spcBef>
              <a:buClr>
                <a:srgbClr val="B8860B"/>
              </a:buClr>
              <a:buFont typeface="Arial"/>
              <a:buChar char="▸"/>
            </a:pPr>
            <a:r>
              <a:rPr lang="en-US" sz="1000">
                <a:solidFill>
                  <a:srgbClr val="1A1A1A"/>
                </a:solidFill>
              </a:rPr>
              <a:t>DD-CAM resubmission</a:t>
            </a:r>
          </a:p>
          <a:p>
            <a:pPr marL="142875" indent="-142875">
              <a:lnSpc>
                <a:spcPts val="1400"/>
              </a:lnSpc>
              <a:spcBef>
                <a:spcPts val="100"/>
              </a:spcBef>
              <a:buClr>
                <a:srgbClr val="B8860B"/>
              </a:buClr>
              <a:buFont typeface="Arial"/>
              <a:buChar char="▸"/>
            </a:pPr>
            <a:r>
              <a:rPr lang="en-US" sz="1000">
                <a:solidFill>
                  <a:srgbClr val="1A1A1A"/>
                </a:solidFill>
              </a:rPr>
              <a:t>EGMR full benchmarks, paper submission</a:t>
            </a:r>
          </a:p>
          <a:p>
            <a:pPr marL="142875" indent="-142875">
              <a:lnSpc>
                <a:spcPts val="1400"/>
              </a:lnSpc>
              <a:spcBef>
                <a:spcPts val="100"/>
              </a:spcBef>
              <a:buClr>
                <a:srgbClr val="B8860B"/>
              </a:buClr>
              <a:buFont typeface="Arial"/>
              <a:buChar char="▸"/>
            </a:pPr>
            <a:r>
              <a:rPr lang="en-US" sz="1000">
                <a:solidFill>
                  <a:srgbClr val="1A1A1A"/>
                </a:solidFill>
              </a:rPr>
              <a:t>Dissertation draft</a:t>
            </a:r>
          </a:p>
        </p:txBody>
      </p:sp>
    </p:spTree>
    <p:extLst>
      <p:ext uri="{BB962C8B-B14F-4D97-AF65-F5344CB8AC3E}">
        <p14:creationId xmlns:p14="http://schemas.microsoft.com/office/powerpoint/2010/main" val="10370729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E2B2F-7CAD-7627-5ADB-BB71C164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7A59CFE2-EB39-2235-D480-F06904CB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5386031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C7EBA-B69E-A00C-1B7C-9DBB90C1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B221-4EA7-2620-B83B-FAA5B3FE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95036-1EC1-1A11-1427-BB32CFBD4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22350"/>
            <a:ext cx="8229600" cy="3125107"/>
          </a:xfrm>
        </p:spPr>
        <p:txBody>
          <a:bodyPr>
            <a:noAutofit/>
          </a:bodyPr>
          <a:lstStyle/>
          <a:p>
            <a:pPr marL="228600" indent="-228600">
              <a:buAutoNum type="arabicPeriod"/>
            </a:pPr>
            <a:r>
              <a:rPr lang="en-US" sz="800"/>
              <a:t>Khadka, Krishna, et al. "Assessing the degree of feature interactions that determine a model prediction." </a:t>
            </a:r>
            <a:r>
              <a:rPr lang="en-US" sz="800" i="1"/>
              <a:t>2024 IEEE International Conference on Software Testing, Verification and Validation Workshops (ICSTW)</a:t>
            </a:r>
            <a:r>
              <a:rPr lang="en-US" sz="800"/>
              <a:t>. IEEE, 2024.</a:t>
            </a:r>
          </a:p>
          <a:p>
            <a:pPr marL="228600" indent="-228600">
              <a:buAutoNum type="arabicPeriod"/>
            </a:pPr>
            <a:r>
              <a:rPr lang="en-US" sz="800"/>
              <a:t>Khadka, Krishna, et al. "ABLE: Using Adversarial Pairs to Construct Local Models for Explaining Model Predictions." </a:t>
            </a:r>
            <a:r>
              <a:rPr lang="en-US" sz="800" i="1"/>
              <a:t>Proceedings of the 32nd ACM SIGKDD Conference on Knowledge Discovery and Data Mining V. 1</a:t>
            </a:r>
            <a:r>
              <a:rPr lang="en-US" sz="800"/>
              <a:t>. 2026.</a:t>
            </a:r>
          </a:p>
          <a:p>
            <a:pPr marL="228600" indent="-228600">
              <a:buAutoNum type="arabicPeriod"/>
            </a:pPr>
            <a:r>
              <a:rPr lang="en-US" sz="800"/>
              <a:t>Khadka, Krishna, et al. "DD-CAM: Minimal Sufficient Explanations for Vision Models Using Delta Debugging." </a:t>
            </a:r>
            <a:r>
              <a:rPr lang="en-US" sz="800" i="1" err="1"/>
              <a:t>arXiv</a:t>
            </a:r>
            <a:r>
              <a:rPr lang="en-US" sz="800" i="1"/>
              <a:t> preprint arXiv:2602.19274</a:t>
            </a:r>
            <a:r>
              <a:rPr lang="en-US" sz="800"/>
              <a:t> (2026). </a:t>
            </a:r>
          </a:p>
          <a:p>
            <a:pPr marL="228600" indent="-228600">
              <a:buAutoNum type="arabicPeriod"/>
            </a:pPr>
            <a:r>
              <a:rPr lang="en-US" sz="800"/>
              <a:t>Kuhn, Rick, Yu Lei, and Raghu Kacker. "Practical combinatorial testing: Beyond pairwise." </a:t>
            </a:r>
            <a:r>
              <a:rPr lang="en-US" sz="800" i="1"/>
              <a:t>It Professional</a:t>
            </a:r>
            <a:r>
              <a:rPr lang="en-US" sz="800"/>
              <a:t> 10.3 (2008): 19-23.</a:t>
            </a:r>
          </a:p>
          <a:p>
            <a:pPr marL="228600" indent="-228600">
              <a:buAutoNum type="arabicPeriod"/>
            </a:pPr>
            <a:r>
              <a:rPr lang="en-US" sz="800"/>
              <a:t>Lundberg, Scott M., and Su-In Lee. "A unified approach to interpreting model predictions." </a:t>
            </a:r>
            <a:r>
              <a:rPr lang="en-US" sz="800" i="1"/>
              <a:t>Advances in neural information processing systems</a:t>
            </a:r>
            <a:r>
              <a:rPr lang="en-US" sz="800"/>
              <a:t> 30 (2017).</a:t>
            </a:r>
          </a:p>
          <a:p>
            <a:pPr marL="228600" indent="-228600">
              <a:buAutoNum type="arabicPeriod"/>
            </a:pPr>
            <a:r>
              <a:rPr lang="en-US" sz="800"/>
              <a:t>Ribeiro, Marco Tulio, Sameer Singh, and Carlos Guestrin. "" Why should </a:t>
            </a:r>
            <a:r>
              <a:rPr lang="en-US" sz="800" err="1"/>
              <a:t>i</a:t>
            </a:r>
            <a:r>
              <a:rPr lang="en-US" sz="800"/>
              <a:t> trust you?" Explaining the predictions of any classifier." </a:t>
            </a:r>
            <a:r>
              <a:rPr lang="en-US" sz="800" i="1"/>
              <a:t>Proceedings of the 22nd ACM SIGKDD international conference on knowledge discovery and data mining</a:t>
            </a:r>
            <a:r>
              <a:rPr lang="en-US" sz="800"/>
              <a:t>. 2016.</a:t>
            </a:r>
          </a:p>
          <a:p>
            <a:pPr marL="228600" indent="-228600">
              <a:buAutoNum type="arabicPeriod"/>
            </a:pPr>
            <a:r>
              <a:rPr lang="en-US" sz="800"/>
              <a:t>Tan, Zeren, Yang Tian, and Jian Li. "GLIME: general, stable and local LIME explanation." </a:t>
            </a:r>
            <a:r>
              <a:rPr lang="en-US" sz="800" i="1"/>
              <a:t>Advances in neural information processing systems</a:t>
            </a:r>
            <a:r>
              <a:rPr lang="en-US" sz="800"/>
              <a:t> 36 (2023): 36250-36277.</a:t>
            </a:r>
          </a:p>
          <a:p>
            <a:pPr marL="228600" indent="-228600">
              <a:buAutoNum type="arabicPeriod"/>
            </a:pPr>
            <a:r>
              <a:rPr lang="en-US" sz="800"/>
              <a:t>Hamid Saadatfar, Zeinab Kiani-</a:t>
            </a:r>
            <a:r>
              <a:rPr lang="en-US" sz="800" err="1"/>
              <a:t>Zadegan</a:t>
            </a:r>
            <a:r>
              <a:rPr lang="en-US" sz="800"/>
              <a:t>, and Benyamin Ghahremani-Nezhad. 2024. US-LIME: Increasing fidelity in LIME using uncertainty sampling on tabular data. Neurocomputing 597 (2024), 127969.</a:t>
            </a:r>
          </a:p>
          <a:p>
            <a:pPr marL="228600" indent="-228600">
              <a:buAutoNum type="arabicPeriod"/>
            </a:pPr>
            <a:r>
              <a:rPr lang="en-US" sz="800"/>
              <a:t>Martina Cinquini and Riccardo Guidotti. 2024. Causality-aware local interpretable model-agnostic explanations. In World Conference on Explainable Artificial Intelligence. Springer, 108–124.</a:t>
            </a:r>
          </a:p>
          <a:p>
            <a:pPr marL="228600" indent="-228600">
              <a:buAutoNum type="arabicPeriod"/>
            </a:pPr>
            <a:r>
              <a:rPr lang="en-US" sz="800"/>
              <a:t>Zeller, Andreas, and Ralf Hildebrandt. "Simplifying and isolating failure-inducing input." </a:t>
            </a:r>
            <a:r>
              <a:rPr lang="en-US" sz="800" i="1"/>
              <a:t>IEEE Transactions on software engineering</a:t>
            </a:r>
            <a:r>
              <a:rPr lang="en-US" sz="800"/>
              <a:t> 28.2 (2002): 183-200.</a:t>
            </a:r>
          </a:p>
          <a:p>
            <a:pPr marL="228600" indent="-228600">
              <a:buAutoNum type="arabicPeriod"/>
            </a:pPr>
            <a:r>
              <a:rPr lang="en-US" sz="800" err="1"/>
              <a:t>Ramprasaath</a:t>
            </a:r>
            <a:r>
              <a:rPr lang="en-US" sz="800"/>
              <a:t> R Selvaraju, Michael Cogswell, Abhishek Das, Ramakrishna Vedantam, Devi Parikh, and Dhruv Batra. Grad-cam: Visual explanations from deep networks via gradient-based localization. In Proceedings of the IEEE international conference on computer vision, pages 618–626, 2017.</a:t>
            </a:r>
          </a:p>
          <a:p>
            <a:pPr marL="228600" indent="-228600">
              <a:buAutoNum type="arabicPeriod"/>
            </a:pPr>
            <a:r>
              <a:rPr lang="en-US" sz="800"/>
              <a:t>Aditya Chattopadhay, Anirban Sarkar, Prantik Howlader, and Vineeth N Balasubramanian. Grad-cam++: Generalized gradient-based visual explanations for deep convolutional networks. In 2018 IEEE winter conference on applications of computer vision (WACV), pages 839–847. IEEE, 2018.</a:t>
            </a:r>
          </a:p>
          <a:p>
            <a:pPr marL="228600" indent="-228600">
              <a:buAutoNum type="arabicPeriod"/>
            </a:pPr>
            <a:r>
              <a:rPr lang="en-US" sz="800" err="1"/>
              <a:t>Ruigang</a:t>
            </a:r>
            <a:r>
              <a:rPr lang="en-US" sz="800"/>
              <a:t> Fu, </a:t>
            </a:r>
            <a:r>
              <a:rPr lang="en-US" sz="800" err="1"/>
              <a:t>Qingyong</a:t>
            </a:r>
            <a:r>
              <a:rPr lang="en-US" sz="800"/>
              <a:t> Hu, Xiaohu Dong, Yulan Guo, Yinghui Gao, and Biao Li. Axiom-based grad-cam: Towards accurate visualization and explanation of </a:t>
            </a:r>
            <a:r>
              <a:rPr lang="en-US" sz="800" err="1"/>
              <a:t>cnns</a:t>
            </a:r>
            <a:r>
              <a:rPr lang="en-US" sz="800"/>
              <a:t>. </a:t>
            </a:r>
            <a:r>
              <a:rPr lang="en-US" sz="800" err="1"/>
              <a:t>arXiv</a:t>
            </a:r>
            <a:r>
              <a:rPr lang="en-US" sz="800"/>
              <a:t> preprint arXiv:2008.02312, 2020</a:t>
            </a:r>
          </a:p>
          <a:p>
            <a:pPr marL="228600" indent="-228600">
              <a:buAutoNum type="arabicPeriod"/>
            </a:pPr>
            <a:endParaRPr lang="en-US" sz="800"/>
          </a:p>
          <a:p>
            <a:pPr marL="228600" indent="-228600">
              <a:buAutoNum type="arabicPeriod"/>
            </a:pP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203172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E043-ACE5-8D48-B55A-8D0B638A0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DE355-D4A1-D9EF-A4B7-13C65B90A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18755"/>
            <a:ext cx="8229600" cy="309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00"/>
              <a:t>14. Peng-Tao Jiang, Chang-Bin Zhang, </a:t>
            </a:r>
            <a:r>
              <a:rPr lang="en-US" sz="800" err="1"/>
              <a:t>Qibin</a:t>
            </a:r>
            <a:r>
              <a:rPr lang="en-US" sz="800"/>
              <a:t> Hou, Ming-Ming Cheng, and Yunchao Wei. </a:t>
            </a:r>
            <a:r>
              <a:rPr lang="en-US" sz="800" err="1"/>
              <a:t>Layercam</a:t>
            </a:r>
            <a:r>
              <a:rPr lang="en-US" sz="800"/>
              <a:t>: Exploring hierarchical class activation maps for localization. IEEE transactions on image processing, 30:5875–5888, 2021</a:t>
            </a:r>
          </a:p>
          <a:p>
            <a:pPr marL="0" indent="0">
              <a:buNone/>
            </a:pPr>
            <a:r>
              <a:rPr lang="en-US" sz="800"/>
              <a:t>15. Haofan Wang, Zifan Wang, Mengnan Du, Fan Yang, Zijian Zhang, Sirui Ding, Piotr Mardziel, and Xia Hu. Score-cam: Score-weighted visual explanations for convolutional neural networks. In Proceedings of the IEEE/CVF conference on computer vision and pattern recognition workshops, pages 24–25, 2020</a:t>
            </a:r>
          </a:p>
          <a:p>
            <a:pPr marL="0" indent="0">
              <a:buNone/>
            </a:pPr>
            <a:r>
              <a:rPr lang="en-US" sz="800"/>
              <a:t>16. Harish Guruprasad Ramaswamy et al. Ablation-cam: Visual explanations for deep convolutional network via </a:t>
            </a:r>
            <a:r>
              <a:rPr lang="en-US" sz="800" err="1"/>
              <a:t>gradientfree</a:t>
            </a:r>
            <a:r>
              <a:rPr lang="en-US" sz="800"/>
              <a:t> localization. In proceedings of the IEEE/CVF winter conference on applications of computer vision, pages 983– 991, 2020</a:t>
            </a:r>
          </a:p>
          <a:p>
            <a:pPr marL="0" indent="0">
              <a:buNone/>
            </a:pPr>
            <a:r>
              <a:rPr lang="en-US" sz="800"/>
              <a:t>17. Seok-Yong Byun and Wonju Lee. Vit-</a:t>
            </a:r>
            <a:r>
              <a:rPr lang="en-US" sz="800" err="1"/>
              <a:t>reciprocam</a:t>
            </a:r>
            <a:r>
              <a:rPr lang="en-US" sz="800"/>
              <a:t>: gradient and attention-free visual explanations for vision transformer. </a:t>
            </a:r>
            <a:r>
              <a:rPr lang="en-US" sz="800" err="1"/>
              <a:t>arXiv</a:t>
            </a:r>
            <a:r>
              <a:rPr lang="en-US" sz="800"/>
              <a:t> preprint arXiv:2310.02588, 2023.</a:t>
            </a:r>
          </a:p>
          <a:p>
            <a:pPr marL="0" indent="0">
              <a:buNone/>
            </a:pPr>
            <a:r>
              <a:rPr lang="en-US" sz="800"/>
              <a:t>18. </a:t>
            </a:r>
            <a:r>
              <a:rPr lang="en-US" sz="800" err="1"/>
              <a:t>Petsiuk</a:t>
            </a:r>
            <a:r>
              <a:rPr lang="en-US" sz="800"/>
              <a:t>, Vitali, Abir Das, and Kate Saenko. "Rise: Randomized input sampling for explanation of black-box models." </a:t>
            </a:r>
            <a:r>
              <a:rPr lang="en-US" sz="800" i="1" err="1"/>
              <a:t>arXiv</a:t>
            </a:r>
            <a:r>
              <a:rPr lang="en-US" sz="800" i="1"/>
              <a:t> preprint arXiv:1806.07421</a:t>
            </a:r>
            <a:r>
              <a:rPr lang="en-US" sz="800"/>
              <a:t> (2018).</a:t>
            </a:r>
          </a:p>
          <a:p>
            <a:pPr marL="0" indent="0">
              <a:buNone/>
            </a:pPr>
            <a:r>
              <a:rPr lang="en-US" sz="800"/>
              <a:t>19. Sundararajan, Mukund, Ankur Taly, and Qiqi Yan. "Axiomatic attribution for deep networks." </a:t>
            </a:r>
            <a:r>
              <a:rPr lang="en-US" sz="800" i="1"/>
              <a:t>International conference on machine learning</a:t>
            </a:r>
            <a:r>
              <a:rPr lang="en-US" sz="800"/>
              <a:t>. PMLR, 2017.</a:t>
            </a:r>
          </a:p>
          <a:p>
            <a:pPr marL="0" indent="0">
              <a:buNone/>
            </a:pPr>
            <a:r>
              <a:rPr lang="en-US" sz="800"/>
              <a:t>20. Fong, Ruth, Mandela Patrick, and Andrea Vedaldi. "Understanding deep networks via extremal perturbations and smooth masks." </a:t>
            </a:r>
            <a:r>
              <a:rPr lang="en-US" sz="800" i="1"/>
              <a:t>Proceedings of the IEEE/CVF international conference on computer vision</a:t>
            </a:r>
            <a:r>
              <a:rPr lang="en-US" sz="800"/>
              <a:t>. 2019.</a:t>
            </a:r>
          </a:p>
          <a:p>
            <a:pPr marL="0" indent="0">
              <a:buNone/>
            </a:pPr>
            <a:r>
              <a:rPr lang="en-US" sz="800"/>
              <a:t>21. Selvaraju, </a:t>
            </a:r>
            <a:r>
              <a:rPr lang="en-US" sz="800" err="1"/>
              <a:t>Ramprasaath</a:t>
            </a:r>
            <a:r>
              <a:rPr lang="en-US" sz="800"/>
              <a:t> R., et al. "Grad-cam: Visual explanations from deep networks via gradient-based localization." </a:t>
            </a:r>
            <a:r>
              <a:rPr lang="en-US" sz="800" i="1"/>
              <a:t>Proceedings of the IEEE international conference on computer vision</a:t>
            </a:r>
            <a:r>
              <a:rPr lang="en-US" sz="800"/>
              <a:t>. 2017.</a:t>
            </a:r>
          </a:p>
          <a:p>
            <a:pPr marL="0" indent="0">
              <a:buNone/>
            </a:pPr>
            <a:r>
              <a:rPr lang="en-US" sz="800"/>
              <a:t>22. Sagawa, Shiori, et al. "Distributionally robust neural networks for group shifts: On the importance of regularization for worst-case generalization." </a:t>
            </a:r>
            <a:r>
              <a:rPr lang="en-US" sz="800" i="1" err="1"/>
              <a:t>arXiv</a:t>
            </a:r>
            <a:r>
              <a:rPr lang="en-US" sz="800" i="1"/>
              <a:t> preprint arXiv:1911.08731</a:t>
            </a:r>
            <a:r>
              <a:rPr lang="en-US" sz="800"/>
              <a:t> (2019).</a:t>
            </a:r>
          </a:p>
          <a:p>
            <a:pPr marL="0" indent="0">
              <a:buNone/>
            </a:pPr>
            <a:r>
              <a:rPr lang="en-US" sz="800"/>
              <a:t>23. Liu, Evan Z., et al. "Just train twice: Improving group robustness without training group information." </a:t>
            </a:r>
            <a:r>
              <a:rPr lang="en-US" sz="800" i="1"/>
              <a:t>International Conference on Machine Learning</a:t>
            </a:r>
            <a:r>
              <a:rPr lang="en-US" sz="800"/>
              <a:t>. PMLR, 2021.</a:t>
            </a:r>
          </a:p>
          <a:p>
            <a:pPr marL="0" indent="0">
              <a:buNone/>
            </a:pPr>
            <a:r>
              <a:rPr lang="en-US" sz="800"/>
              <a:t>24. Bhalla, Usha, et al. "Interpreting clip with sparse linear concept embeddings (splice)." </a:t>
            </a:r>
            <a:r>
              <a:rPr lang="en-US" sz="800" i="1"/>
              <a:t>Advances in Neural Information Processing Systems</a:t>
            </a:r>
            <a:r>
              <a:rPr lang="en-US" sz="800"/>
              <a:t> 37 (2024): 84298-84328.</a:t>
            </a:r>
          </a:p>
          <a:p>
            <a:pPr marL="0" indent="0">
              <a:buNone/>
            </a:pPr>
            <a:r>
              <a:rPr lang="en-US" sz="800"/>
              <a:t>25. Wu, Shirley, et al. "Discover and cure: Concept-aware mitigation of spurious correlation." </a:t>
            </a:r>
            <a:r>
              <a:rPr lang="en-US" sz="800" i="1"/>
              <a:t>International Conference on Machine Learning</a:t>
            </a:r>
            <a:r>
              <a:rPr lang="en-US" sz="800"/>
              <a:t>. PMLR, 2023.</a:t>
            </a:r>
          </a:p>
          <a:p>
            <a:pPr marL="0" indent="0">
              <a:buNone/>
            </a:pPr>
            <a:r>
              <a:rPr lang="en-US" sz="800"/>
              <a:t>26. Zhang, Michael, et al. "Correct-n-contrast: A contrastive approach for improving robustness to spurious correlations." </a:t>
            </a:r>
            <a:r>
              <a:rPr lang="en-US" sz="800" i="1" err="1"/>
              <a:t>arXiv</a:t>
            </a:r>
            <a:r>
              <a:rPr lang="en-US" sz="800" i="1"/>
              <a:t> preprint arXiv:2203.01517</a:t>
            </a:r>
            <a:r>
              <a:rPr lang="en-US" sz="800"/>
              <a:t> (2022).</a:t>
            </a:r>
          </a:p>
          <a:p>
            <a:pPr marL="0" indent="0">
              <a:buNone/>
            </a:pPr>
            <a:r>
              <a:rPr lang="en-US" sz="800"/>
              <a:t>27. Kirichenko, Polina, Pavel Izmailov, and Andrew Gordon Wilson. "Last layer re-training is sufficient for robustness to spurious correlations." </a:t>
            </a:r>
            <a:r>
              <a:rPr lang="en-US" sz="800" i="1" err="1"/>
              <a:t>arXiv</a:t>
            </a:r>
            <a:r>
              <a:rPr lang="en-US" sz="800" i="1"/>
              <a:t> preprint arXiv:2204.02937</a:t>
            </a:r>
            <a:r>
              <a:rPr lang="en-US" sz="800"/>
              <a:t> (2022).</a:t>
            </a:r>
          </a:p>
        </p:txBody>
      </p:sp>
    </p:spTree>
    <p:extLst>
      <p:ext uri="{BB962C8B-B14F-4D97-AF65-F5344CB8AC3E}">
        <p14:creationId xmlns:p14="http://schemas.microsoft.com/office/powerpoint/2010/main" val="17615392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Photos must have alt-texts and videos must also have alt-text as well as be captioned.">
            <a:extLst>
              <a:ext uri="{FF2B5EF4-FFF2-40B4-BE49-F238E27FC236}">
                <a16:creationId xmlns:a16="http://schemas.microsoft.com/office/drawing/2014/main" id="{4409142B-A65E-A249-8018-FEF735A85F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435076-8595-7D3E-6F6E-C258DA819128}"/>
              </a:ext>
            </a:extLst>
          </p:cNvPr>
          <p:cNvSpPr txBox="1">
            <a:spLocks/>
          </p:cNvSpPr>
          <p:nvPr/>
        </p:nvSpPr>
        <p:spPr>
          <a:xfrm>
            <a:off x="2028636" y="2981445"/>
            <a:ext cx="5952685" cy="991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b="1">
                <a:solidFill>
                  <a:srgbClr val="FFFFFF"/>
                </a:solidFill>
                <a:effectLst>
                  <a:outerShdw blurRad="50800" dist="25400" dir="5400000" algn="ctr" rotWithShape="0">
                    <a:srgbClr val="000000">
                      <a:alpha val="60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77248603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 [1777237020652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B5A7CD-DF9E-467C-977F-C35415191C2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761df6a-0db2-4c3f-8a43-9e7661ae3b7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cdc3af-7944-49f5-a476-90533571f05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B9066E5FC6C4EB9A94277205B5423" ma:contentTypeVersion="17" ma:contentTypeDescription="Create a new document." ma:contentTypeScope="" ma:versionID="fcf296f15b43e2e0b0628c4bd75d1a61">
  <xsd:schema xmlns:xsd="http://www.w3.org/2001/XMLSchema" xmlns:xs="http://www.w3.org/2001/XMLSchema" xmlns:p="http://schemas.microsoft.com/office/2006/metadata/properties" xmlns:ns3="8ecdc3af-7944-49f5-a476-90533571f057" xmlns:ns4="0eb422ff-5e64-4023-ab75-514a2dbba60c" targetNamespace="http://schemas.microsoft.com/office/2006/metadata/properties" ma:root="true" ma:fieldsID="9908148b978a4e376ffc2b0c46a1fdde" ns3:_="" ns4:_="">
    <xsd:import namespace="8ecdc3af-7944-49f5-a476-90533571f057"/>
    <xsd:import namespace="0eb422ff-5e64-4023-ab75-514a2dbba60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cdc3af-7944-49f5-a476-90533571f0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b422ff-5e64-4023-ab75-514a2dbba60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99CAED-701D-44BF-B45E-0631AD0D07E6}">
  <ds:schemaRefs>
    <ds:schemaRef ds:uri="http://purl.org/dc/dcmitype/"/>
    <ds:schemaRef ds:uri="8ecdc3af-7944-49f5-a476-90533571f057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0eb422ff-5e64-4023-ab75-514a2dbba60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D5B9FEA-9D9C-419C-B27B-9B4BB0E67DE2}">
  <ds:schemaRefs>
    <ds:schemaRef ds:uri="0eb422ff-5e64-4023-ab75-514a2dbba60c"/>
    <ds:schemaRef ds:uri="8ecdc3af-7944-49f5-a476-90533571f0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5047</Words>
  <Application>Microsoft Office PowerPoint</Application>
  <PresentationFormat>On-screen Show (16:9)</PresentationFormat>
  <Paragraphs>530</Paragraphs>
  <Slides>54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Cambria Math</vt:lpstr>
      <vt:lpstr>Helvetica</vt:lpstr>
      <vt:lpstr>Wingdings</vt:lpstr>
      <vt:lpstr>UTA Accessible Template [1777237020652]</vt:lpstr>
      <vt:lpstr>Research Proposal</vt:lpstr>
      <vt:lpstr>Agenda</vt:lpstr>
      <vt:lpstr>Research Theme</vt:lpstr>
      <vt:lpstr>Four Research Questions</vt:lpstr>
      <vt:lpstr>Feature Interactions</vt:lpstr>
      <vt:lpstr>Problem Statement</vt:lpstr>
      <vt:lpstr>Feature Interaction Hypothesis</vt:lpstr>
      <vt:lpstr>Motivating Examples Adult Income</vt:lpstr>
      <vt:lpstr>Related Work: Instance-level Feature Importance Methods</vt:lpstr>
      <vt:lpstr>SHAP Additivity</vt:lpstr>
      <vt:lpstr>Main Idea</vt:lpstr>
      <vt:lpstr>Step 1: Compute and Sort SHAP Values</vt:lpstr>
      <vt:lpstr>Step 2: Margin-based Iterative Identification</vt:lpstr>
      <vt:lpstr>Experimental Design[1]</vt:lpstr>
      <vt:lpstr>Results</vt:lpstr>
      <vt:lpstr>ABLE: Tabular Local Explanations</vt:lpstr>
      <vt:lpstr>Local Explanation</vt:lpstr>
      <vt:lpstr>Problem: Why LIME's Local Surrogates Fail</vt:lpstr>
      <vt:lpstr>Related Works</vt:lpstr>
      <vt:lpstr>Our Approach: Adversarially Bracketed Local Explanation (ABLE)</vt:lpstr>
      <vt:lpstr>Experimental Design[2]</vt:lpstr>
      <vt:lpstr>Fidelity Results</vt:lpstr>
      <vt:lpstr>Stability Results</vt:lpstr>
      <vt:lpstr>Runtime Analysis</vt:lpstr>
      <vt:lpstr>Neighborhood Samples and Radius Sensitivity</vt:lpstr>
      <vt:lpstr>DD-CAM: Vision Local Explanations</vt:lpstr>
      <vt:lpstr>Problem</vt:lpstr>
      <vt:lpstr>Delta Debugging Analogy</vt:lpstr>
      <vt:lpstr>Key Idea: Minimal Sufficient Set</vt:lpstr>
      <vt:lpstr>Related Work</vt:lpstr>
      <vt:lpstr>Approach</vt:lpstr>
      <vt:lpstr>Experimental Setup [3]</vt:lpstr>
      <vt:lpstr>Faithfulness Results</vt:lpstr>
      <vt:lpstr>Visualizations</vt:lpstr>
      <vt:lpstr>Localization Results</vt:lpstr>
      <vt:lpstr>Visualizations</vt:lpstr>
      <vt:lpstr>Extensions for Final Resubmission</vt:lpstr>
      <vt:lpstr>EGMR: Repairing Models</vt:lpstr>
      <vt:lpstr>PowerPoint Presentation</vt:lpstr>
      <vt:lpstr>PowerPoint Presentation</vt:lpstr>
      <vt:lpstr>PowerPoint Presentation</vt:lpstr>
      <vt:lpstr>Related Work</vt:lpstr>
      <vt:lpstr>PowerPoint Presentation</vt:lpstr>
      <vt:lpstr>PowerPoint Presentation</vt:lpstr>
      <vt:lpstr>PowerPoint Presentation</vt:lpstr>
      <vt:lpstr>Preliminary Results on Waterbirds</vt:lpstr>
      <vt:lpstr>Remaining work, Experimental plan</vt:lpstr>
      <vt:lpstr>Summary and Timeline</vt:lpstr>
      <vt:lpstr>Publications</vt:lpstr>
      <vt:lpstr>Timeline</vt:lpstr>
      <vt:lpstr>Questions &amp; Discussion</vt:lpstr>
      <vt:lpstr>Citations</vt:lpstr>
      <vt:lpstr>Citations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Khadka, Krishna</cp:lastModifiedBy>
  <cp:revision>2</cp:revision>
  <cp:lastPrinted>2026-04-27T20:04:44Z</cp:lastPrinted>
  <dcterms:created xsi:type="dcterms:W3CDTF">2021-08-31T19:16:02Z</dcterms:created>
  <dcterms:modified xsi:type="dcterms:W3CDTF">2026-04-28T15:53:37Z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0x010100F4FB9066E5FC6C4EB9A94277205B5423</vt:lpwstr>
  </property>
</Properties>
</file>